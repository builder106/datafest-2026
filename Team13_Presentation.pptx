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554"/>
    <p:restoredTop sz="94610"/>
  </p:normalViewPr>
  <p:slideViewPr>
    <p:cSldViewPr snapToGrid="0" snapToObjects="1">
      <p:cViewPr varScale="1">
        <p:scale>
          <a:sx n="146" d="100"/>
          <a:sy n="146" d="100"/>
        </p:scale>
        <p:origin x="184"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0433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Team XX from DataFest 2026, and we're here to talk about how transportation access can profoundly shape patient care. Our core finding is that where people get care might be directly tied to whether they can get to their appointments. We've analyzed de-identified encounter and social determinants of health survey data, treating our data sponsor as a regional health system for this presentation. This framing helps us understand the broader implications of our findings. Let's dive into the problem statement and the </a:t>
            </a:r>
            <a:r>
              <a:rPr lang="en-US"/>
              <a:t>cohort I </a:t>
            </a:r>
            <a:r>
              <a:rPr lang="en-US" dirty="0"/>
              <a:t>studied.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our title slide</a:t>
            </a:r>
            <a:r>
              <a:rPr lang="en-US"/>
              <a:t>, I </a:t>
            </a:r>
            <a:r>
              <a:rPr lang="en-US" dirty="0"/>
              <a:t>move to the central question: does a patient's transportation status predict a different care journey</a:t>
            </a:r>
            <a:r>
              <a:rPr lang="en-US"/>
              <a:t>? I </a:t>
            </a:r>
            <a:r>
              <a:rPr lang="en-US" dirty="0"/>
              <a:t>hypothesize that if transportation barriers prevent people from accessing care, we'll see that signal in their emergency department and hospital use</a:t>
            </a:r>
            <a:r>
              <a:rPr lang="en-US"/>
              <a:t>. I </a:t>
            </a:r>
            <a:r>
              <a:rPr lang="en-US" dirty="0"/>
              <a:t>define 'person-years' as the time a patient is observed in our dataset, from their first to last encounter, not their entire lifetime. Similarly, 'window censoring' </a:t>
            </a:r>
            <a:r>
              <a:rPr lang="en-US"/>
              <a:t>means I </a:t>
            </a:r>
            <a:r>
              <a:rPr lang="en-US" dirty="0"/>
              <a:t>only consider data within this specific observation window. It's crucial to remember that only about 6% of patients in the larger dataset have transportation answers, so our results focus on this screened cohort. We're looking for associations here, not claiming direct causation, and our goal is to understand patient journeys, not to assign blame. Now, let's look at the evidence supporting this hypothesis.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established the problem, and now we'll look at the evidence</a:t>
            </a:r>
            <a:r>
              <a:rPr lang="en-US"/>
              <a:t>. I </a:t>
            </a:r>
            <a:r>
              <a:rPr lang="en-US" dirty="0"/>
              <a:t>see clear evidence of higher acute-care intensity for patients facing transportation barriers. Our first point is about magnitude: patients with transportation barriers use acute care three to four times more often. For example, they have 1.94 ED visits per person-year compared to 0.48 for those without barriers. This isn't just an age effect. Our adjusted odds ratios are 3.17 for any ED visit and 3.49 for any inpatient stay, even though the barrier group is actually younger, with a median age of 51 versus 61. Finally</a:t>
            </a:r>
            <a:r>
              <a:rPr lang="en-US"/>
              <a:t>, I </a:t>
            </a:r>
            <a:r>
              <a:rPr lang="en-US" dirty="0"/>
              <a:t>see the impact within chronic disease cohorts, where the 180-day ED return rate roughly doubles for patients with transportation barriers. While the numbers in the barrier cells are smaller, the higher proportion is striking. These findings point to a clear signal </a:t>
            </a:r>
            <a:r>
              <a:rPr lang="en-US"/>
              <a:t>that I </a:t>
            </a:r>
            <a:r>
              <a:rPr lang="en-US" dirty="0"/>
              <a:t>can act on. Let's explore some potential solutions.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established the strong signal of transportation barriers impacting acute care</a:t>
            </a:r>
            <a:r>
              <a:rPr lang="en-US"/>
              <a:t>, I </a:t>
            </a:r>
            <a:r>
              <a:rPr lang="en-US" dirty="0"/>
              <a:t>now turn to actionable solutions. This interactive component, if live, would show how ED intensity evolves over time for both groups</a:t>
            </a:r>
            <a:r>
              <a:rPr lang="en-US"/>
              <a:t>. I </a:t>
            </a:r>
            <a:r>
              <a:rPr lang="en-US" dirty="0"/>
              <a:t>can reiterate that this is an association, not necessarily causation. For Q&amp;A, consider </a:t>
            </a:r>
            <a:r>
              <a:rPr lang="en-US"/>
              <a:t>why I </a:t>
            </a:r>
            <a:r>
              <a:rPr lang="en-US" dirty="0"/>
              <a:t>didn't use geographic data—it was missing FIPS codes</a:t>
            </a:r>
            <a:r>
              <a:rPr lang="en-US"/>
              <a:t>. I </a:t>
            </a:r>
            <a:r>
              <a:rPr lang="en-US" dirty="0"/>
              <a:t>used logistic odds ratios because we're looking at the likelihood of an event</a:t>
            </a:r>
            <a:r>
              <a:rPr lang="en-US"/>
              <a:t>. I </a:t>
            </a:r>
            <a:r>
              <a:rPr lang="en-US" dirty="0"/>
              <a:t>could also discuss a pilot program, perhaps targeting reduced 30-day readmissions as a success metric. Ultimately, the conclusion is clear: one transportation screen identifies patients with about three times the adjusted odds of acute care</a:t>
            </a:r>
            <a:r>
              <a:rPr lang="en-US"/>
              <a:t>. I </a:t>
            </a:r>
            <a:r>
              <a:rPr lang="en-US" dirty="0"/>
              <a:t>need to ask this question more often and resource the responses appropriately. Acting on this existing data is a concrete next step for any regional health system.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slideLayout" Target="../slideLayouts/slideLayout1.xml"/><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png"/><Relationship Id="rId2" Type="http://schemas.openxmlformats.org/officeDocument/2006/relationships/video" Target="../media/media1.mp4"/><Relationship Id="rId16" Type="http://schemas.openxmlformats.org/officeDocument/2006/relationships/image" Target="../media/image32.png"/><Relationship Id="rId1" Type="http://schemas.microsoft.com/office/2007/relationships/media" Target="../media/media1.mp4"/><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jpeg"/><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notesSlide" Target="../notesSlides/notesSlide4.xml"/><Relationship Id="rId9" Type="http://schemas.openxmlformats.org/officeDocument/2006/relationships/image" Target="../media/image25.png"/><Relationship Id="rId1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714375" y="571500"/>
            <a:ext cx="4800600" cy="230386"/>
          </a:xfrm>
          <a:prstGeom prst="rect">
            <a:avLst/>
          </a:prstGeom>
          <a:solidFill>
            <a:srgbClr val="991B1B"/>
          </a:solidFill>
          <a:ln/>
        </p:spPr>
        <p:txBody>
          <a:bodyPr/>
          <a:lstStyle/>
          <a:p>
            <a:endParaRPr lang="en-US"/>
          </a:p>
        </p:txBody>
      </p:sp>
      <p:sp>
        <p:nvSpPr>
          <p:cNvPr id="5" name="Text 1"/>
          <p:cNvSpPr/>
          <p:nvPr/>
        </p:nvSpPr>
        <p:spPr>
          <a:xfrm>
            <a:off x="714375" y="571500"/>
            <a:ext cx="4800600" cy="230386"/>
          </a:xfrm>
          <a:prstGeom prst="rect">
            <a:avLst/>
          </a:prstGeom>
          <a:noFill/>
          <a:ln/>
        </p:spPr>
        <p:txBody>
          <a:bodyPr wrap="square" lIns="136017" tIns="68072" rIns="136017" bIns="68072" rtlCol="0" anchor="t">
            <a:spAutoFit/>
          </a:bodyPr>
          <a:lstStyle/>
          <a:p>
            <a:pPr marL="0" indent="0" algn="l">
              <a:lnSpc>
                <a:spcPts val="900"/>
              </a:lnSpc>
              <a:buNone/>
            </a:pPr>
            <a:r>
              <a:rPr lang="en-US" sz="683" b="1" kern="0" spc="2" dirty="0">
                <a:solidFill>
                  <a:srgbClr val="FFFFFF"/>
                </a:solidFill>
                <a:latin typeface="Arial" pitchFamily="34" charset="0"/>
                <a:ea typeface="Arial" pitchFamily="34" charset="-122"/>
                <a:cs typeface="Arial" pitchFamily="34" charset="-120"/>
              </a:rPr>
              <a:t>FINDINGS SUMMARY</a:t>
            </a:r>
            <a:endParaRPr lang="en-US" sz="683" dirty="0"/>
          </a:p>
        </p:txBody>
      </p:sp>
      <p:sp>
        <p:nvSpPr>
          <p:cNvPr id="6" name="Text 2"/>
          <p:cNvSpPr/>
          <p:nvPr/>
        </p:nvSpPr>
        <p:spPr>
          <a:xfrm>
            <a:off x="714375" y="973336"/>
            <a:ext cx="4800600" cy="1005818"/>
          </a:xfrm>
          <a:prstGeom prst="rect">
            <a:avLst/>
          </a:prstGeom>
          <a:noFill/>
          <a:ln/>
        </p:spPr>
        <p:txBody>
          <a:bodyPr wrap="square" lIns="0" tIns="0" rIns="0" bIns="0" rtlCol="0" anchor="t">
            <a:spAutoFit/>
          </a:bodyPr>
          <a:lstStyle/>
          <a:p>
            <a:pPr marL="0" indent="0" algn="l">
              <a:lnSpc>
                <a:spcPts val="4000"/>
              </a:lnSpc>
              <a:buNone/>
            </a:pPr>
            <a:r>
              <a:rPr lang="en-US" sz="3294" b="1" dirty="0">
                <a:solidFill>
                  <a:srgbClr val="0F172A"/>
                </a:solidFill>
                <a:latin typeface="Arial" pitchFamily="34" charset="0"/>
                <a:ea typeface="Arial" pitchFamily="34" charset="-122"/>
                <a:cs typeface="Arial" pitchFamily="34" charset="-120"/>
              </a:rPr>
              <a:t>When a Ride is the Missing Treatment</a:t>
            </a:r>
            <a:endParaRPr lang="en-US" sz="3294" dirty="0"/>
          </a:p>
        </p:txBody>
      </p:sp>
      <p:sp>
        <p:nvSpPr>
          <p:cNvPr id="7" name="Text 3"/>
          <p:cNvSpPr/>
          <p:nvPr/>
        </p:nvSpPr>
        <p:spPr>
          <a:xfrm>
            <a:off x="714375" y="2350629"/>
            <a:ext cx="4286250" cy="560059"/>
          </a:xfrm>
          <a:prstGeom prst="rect">
            <a:avLst/>
          </a:prstGeom>
          <a:noFill/>
          <a:ln/>
        </p:spPr>
        <p:txBody>
          <a:bodyPr wrap="square" lIns="0" tIns="0" rIns="0" bIns="0" rtlCol="0" anchor="t">
            <a:spAutoFit/>
          </a:bodyPr>
          <a:lstStyle/>
          <a:p>
            <a:pPr marL="0" indent="0" algn="l">
              <a:lnSpc>
                <a:spcPts val="2200"/>
              </a:lnSpc>
              <a:buNone/>
            </a:pPr>
            <a:r>
              <a:rPr lang="en-US" sz="1486" dirty="0">
                <a:solidFill>
                  <a:srgbClr val="475569"/>
                </a:solidFill>
                <a:latin typeface="Arial" pitchFamily="34" charset="0"/>
                <a:ea typeface="Arial" pitchFamily="34" charset="-122"/>
                <a:cs typeface="Arial" pitchFamily="34" charset="-120"/>
              </a:rPr>
              <a:t>An investigation into transportation barriers and patient journeys within a regional health system.</a:t>
            </a:r>
            <a:endParaRPr lang="en-US" sz="1486" dirty="0"/>
          </a:p>
        </p:txBody>
      </p:sp>
      <p:sp>
        <p:nvSpPr>
          <p:cNvPr id="8" name="Text 4"/>
          <p:cNvSpPr/>
          <p:nvPr/>
        </p:nvSpPr>
        <p:spPr>
          <a:xfrm>
            <a:off x="714375" y="4313039"/>
            <a:ext cx="364395" cy="109774"/>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94A3B8"/>
                </a:solidFill>
                <a:latin typeface="Arial" pitchFamily="34" charset="0"/>
                <a:ea typeface="Arial" pitchFamily="34" charset="-122"/>
                <a:cs typeface="Arial" pitchFamily="34" charset="-120"/>
              </a:rPr>
              <a:t>TEAM</a:t>
            </a:r>
            <a:endParaRPr lang="en-US" sz="1000" dirty="0"/>
          </a:p>
        </p:txBody>
      </p:sp>
      <p:sp>
        <p:nvSpPr>
          <p:cNvPr id="9" name="Text 5"/>
          <p:cNvSpPr/>
          <p:nvPr/>
        </p:nvSpPr>
        <p:spPr>
          <a:xfrm>
            <a:off x="714375" y="4439841"/>
            <a:ext cx="569067"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334155"/>
                </a:solidFill>
                <a:latin typeface="Arial" pitchFamily="34" charset="0"/>
                <a:ea typeface="Arial" pitchFamily="34" charset="-122"/>
                <a:cs typeface="Arial" pitchFamily="34" charset="-120"/>
              </a:rPr>
              <a:t>TEAM 13</a:t>
            </a:r>
            <a:endParaRPr lang="en-US" sz="1050" dirty="0"/>
          </a:p>
        </p:txBody>
      </p:sp>
      <p:sp>
        <p:nvSpPr>
          <p:cNvPr id="10" name="Text 6"/>
          <p:cNvSpPr/>
          <p:nvPr/>
        </p:nvSpPr>
        <p:spPr>
          <a:xfrm>
            <a:off x="1674769" y="4304134"/>
            <a:ext cx="806118" cy="109774"/>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94A3B8"/>
                </a:solidFill>
                <a:latin typeface="Arial" pitchFamily="34" charset="0"/>
                <a:ea typeface="Arial" pitchFamily="34" charset="-122"/>
                <a:cs typeface="Arial" pitchFamily="34" charset="-120"/>
              </a:rPr>
              <a:t>INSTITUTION</a:t>
            </a:r>
            <a:endParaRPr lang="en-US" sz="1000" dirty="0"/>
          </a:p>
        </p:txBody>
      </p:sp>
      <p:sp>
        <p:nvSpPr>
          <p:cNvPr id="11" name="Text 7"/>
          <p:cNvSpPr/>
          <p:nvPr/>
        </p:nvSpPr>
        <p:spPr>
          <a:xfrm>
            <a:off x="1674769" y="4430936"/>
            <a:ext cx="1311256"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334155"/>
                </a:solidFill>
                <a:latin typeface="Arial" pitchFamily="34" charset="0"/>
                <a:ea typeface="Arial" pitchFamily="34" charset="-122"/>
                <a:cs typeface="Arial" pitchFamily="34" charset="-120"/>
              </a:rPr>
              <a:t>Wesleyan University</a:t>
            </a:r>
            <a:endParaRPr lang="en-US" sz="1050" dirty="0"/>
          </a:p>
        </p:txBody>
      </p:sp>
      <p:sp>
        <p:nvSpPr>
          <p:cNvPr id="12" name="Text 8"/>
          <p:cNvSpPr/>
          <p:nvPr/>
        </p:nvSpPr>
        <p:spPr>
          <a:xfrm>
            <a:off x="3306056" y="4313039"/>
            <a:ext cx="349968" cy="109774"/>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94A3B8"/>
                </a:solidFill>
                <a:latin typeface="Arial" pitchFamily="34" charset="0"/>
                <a:ea typeface="Arial" pitchFamily="34" charset="-122"/>
                <a:cs typeface="Arial" pitchFamily="34" charset="-120"/>
              </a:rPr>
              <a:t>DATE</a:t>
            </a:r>
            <a:endParaRPr lang="en-US" sz="1000" dirty="0"/>
          </a:p>
        </p:txBody>
      </p:sp>
      <p:sp>
        <p:nvSpPr>
          <p:cNvPr id="13" name="Text 9"/>
          <p:cNvSpPr/>
          <p:nvPr/>
        </p:nvSpPr>
        <p:spPr>
          <a:xfrm>
            <a:off x="3306056" y="4439841"/>
            <a:ext cx="868828" cy="141064"/>
          </a:xfrm>
          <a:prstGeom prst="rect">
            <a:avLst/>
          </a:prstGeom>
          <a:noFill/>
          <a:ln/>
        </p:spPr>
        <p:txBody>
          <a:bodyPr wrap="none" lIns="0" tIns="0" rIns="0" bIns="0" rtlCol="0" anchor="t">
            <a:spAutoFit/>
          </a:bodyPr>
          <a:lstStyle/>
          <a:p>
            <a:pPr marL="0" indent="0" algn="l">
              <a:lnSpc>
                <a:spcPts val="1100"/>
              </a:lnSpc>
              <a:buNone/>
            </a:pPr>
            <a:r>
              <a:rPr lang="en-US" sz="1050" b="1" dirty="0">
                <a:solidFill>
                  <a:srgbClr val="334155"/>
                </a:solidFill>
                <a:latin typeface="Arial" pitchFamily="34" charset="0"/>
                <a:ea typeface="Arial" pitchFamily="34" charset="-122"/>
                <a:cs typeface="Arial" pitchFamily="34" charset="-120"/>
              </a:rPr>
              <a:t>April 19, 2026</a:t>
            </a:r>
            <a:endParaRPr lang="en-US" sz="1050" dirty="0"/>
          </a:p>
        </p:txBody>
      </p:sp>
      <p:sp>
        <p:nvSpPr>
          <p:cNvPr id="14" name="Shape 10"/>
          <p:cNvSpPr/>
          <p:nvPr/>
        </p:nvSpPr>
        <p:spPr>
          <a:xfrm>
            <a:off x="5943600" y="0"/>
            <a:ext cx="3200400" cy="5143500"/>
          </a:xfrm>
          <a:prstGeom prst="rect">
            <a:avLst/>
          </a:prstGeom>
          <a:solidFill>
            <a:srgbClr val="0F172A"/>
          </a:solidFill>
          <a:ln/>
        </p:spPr>
        <p:txBody>
          <a:bodyPr/>
          <a:lstStyle/>
          <a:p>
            <a:endParaRPr lang="en-US"/>
          </a:p>
        </p:txBody>
      </p:sp>
      <p:pic>
        <p:nvPicPr>
          <p:cNvPr id="15" name="Image 1" descr="preencoded.png"/>
          <p:cNvPicPr>
            <a:picLocks noChangeAspect="1"/>
          </p:cNvPicPr>
          <p:nvPr/>
        </p:nvPicPr>
        <p:blipFill>
          <a:blip r:embed="rId4">
            <a:alphaModFix amt="10000"/>
          </a:blip>
          <a:stretch>
            <a:fillRect/>
          </a:stretch>
        </p:blipFill>
        <p:spPr>
          <a:xfrm>
            <a:off x="6263618" y="257175"/>
            <a:ext cx="1000125" cy="1000125"/>
          </a:xfrm>
          <a:prstGeom prst="rect">
            <a:avLst/>
          </a:prstGeom>
        </p:spPr>
      </p:pic>
      <p:pic>
        <p:nvPicPr>
          <p:cNvPr id="16" name="Image 2" descr="preencoded.png"/>
          <p:cNvPicPr>
            <a:picLocks noChangeAspect="1"/>
          </p:cNvPicPr>
          <p:nvPr/>
        </p:nvPicPr>
        <p:blipFill>
          <a:blip r:embed="rId5">
            <a:alphaModFix amt="10000"/>
          </a:blip>
          <a:stretch>
            <a:fillRect/>
          </a:stretch>
        </p:blipFill>
        <p:spPr>
          <a:xfrm>
            <a:off x="8510763" y="918517"/>
            <a:ext cx="1125141" cy="1000125"/>
          </a:xfrm>
          <a:prstGeom prst="rect">
            <a:avLst/>
          </a:prstGeom>
        </p:spPr>
      </p:pic>
      <p:pic>
        <p:nvPicPr>
          <p:cNvPr id="17" name="Image 3" descr="preencoded.png"/>
          <p:cNvPicPr>
            <a:picLocks noChangeAspect="1"/>
          </p:cNvPicPr>
          <p:nvPr/>
        </p:nvPicPr>
        <p:blipFill>
          <a:blip r:embed="rId6">
            <a:alphaModFix amt="10000"/>
          </a:blip>
          <a:stretch>
            <a:fillRect/>
          </a:stretch>
        </p:blipFill>
        <p:spPr>
          <a:xfrm>
            <a:off x="6583663" y="3886200"/>
            <a:ext cx="1250156" cy="1000125"/>
          </a:xfrm>
          <a:prstGeom prst="rect">
            <a:avLst/>
          </a:prstGeom>
        </p:spPr>
      </p:pic>
      <p:pic>
        <p:nvPicPr>
          <p:cNvPr id="18" name="Image 4" descr="preencoded.png"/>
          <p:cNvPicPr>
            <a:picLocks noChangeAspect="1"/>
          </p:cNvPicPr>
          <p:nvPr/>
        </p:nvPicPr>
        <p:blipFill>
          <a:blip r:embed="rId7"/>
          <a:stretch>
            <a:fillRect/>
          </a:stretch>
        </p:blipFill>
        <p:spPr>
          <a:xfrm>
            <a:off x="6557906" y="2119908"/>
            <a:ext cx="571500" cy="571500"/>
          </a:xfrm>
          <a:prstGeom prst="rect">
            <a:avLst/>
          </a:prstGeom>
        </p:spPr>
      </p:pic>
      <p:pic>
        <p:nvPicPr>
          <p:cNvPr id="19" name="Image 5" descr="preencoded.png"/>
          <p:cNvPicPr>
            <a:picLocks noChangeAspect="1"/>
          </p:cNvPicPr>
          <p:nvPr/>
        </p:nvPicPr>
        <p:blipFill>
          <a:blip r:embed="rId8">
            <a:alphaModFix amt="30000"/>
          </a:blip>
          <a:stretch>
            <a:fillRect/>
          </a:stretch>
        </p:blipFill>
        <p:spPr>
          <a:xfrm>
            <a:off x="7343719" y="2298501"/>
            <a:ext cx="187523" cy="214313"/>
          </a:xfrm>
          <a:prstGeom prst="rect">
            <a:avLst/>
          </a:prstGeom>
        </p:spPr>
      </p:pic>
      <p:pic>
        <p:nvPicPr>
          <p:cNvPr id="20" name="Image 6" descr="preencoded.png"/>
          <p:cNvPicPr>
            <a:picLocks noChangeAspect="1"/>
          </p:cNvPicPr>
          <p:nvPr/>
        </p:nvPicPr>
        <p:blipFill>
          <a:blip r:embed="rId9"/>
          <a:stretch>
            <a:fillRect/>
          </a:stretch>
        </p:blipFill>
        <p:spPr>
          <a:xfrm>
            <a:off x="7745554" y="2119908"/>
            <a:ext cx="642938" cy="571500"/>
          </a:xfrm>
          <a:prstGeom prst="rect">
            <a:avLst/>
          </a:prstGeom>
        </p:spPr>
      </p:pic>
      <p:sp>
        <p:nvSpPr>
          <p:cNvPr id="22" name="Text 11"/>
          <p:cNvSpPr/>
          <p:nvPr/>
        </p:nvSpPr>
        <p:spPr>
          <a:xfrm>
            <a:off x="6989112" y="3038652"/>
            <a:ext cx="1689413" cy="196453"/>
          </a:xfrm>
          <a:prstGeom prst="rect">
            <a:avLst/>
          </a:prstGeom>
          <a:noFill/>
          <a:ln/>
        </p:spPr>
        <p:txBody>
          <a:bodyPr wrap="none" lIns="0" tIns="0" rIns="0" bIns="0" rtlCol="0" anchor="t">
            <a:spAutoFit/>
          </a:bodyPr>
          <a:lstStyle/>
          <a:p>
            <a:pPr marL="0" indent="0" algn="l">
              <a:lnSpc>
                <a:spcPts val="1600"/>
              </a:lnSpc>
              <a:buNone/>
            </a:pPr>
            <a:r>
              <a:rPr lang="en-US" sz="1193" b="1" kern="0" spc="3" dirty="0">
                <a:solidFill>
                  <a:srgbClr val="FFFFFF">
                    <a:alpha val="50000"/>
                  </a:srgbClr>
                </a:solidFill>
                <a:latin typeface="Arial" pitchFamily="34" charset="0"/>
                <a:ea typeface="Arial" pitchFamily="34" charset="-122"/>
                <a:cs typeface="Arial" pitchFamily="34" charset="-120"/>
              </a:rPr>
              <a:t>DATAFEST 2026</a:t>
            </a:r>
            <a:endParaRPr lang="en-US" sz="1193" dirty="0"/>
          </a:p>
        </p:txBody>
      </p:sp>
      <p:sp>
        <p:nvSpPr>
          <p:cNvPr id="23" name="Text 12"/>
          <p:cNvSpPr/>
          <p:nvPr/>
        </p:nvSpPr>
        <p:spPr>
          <a:xfrm>
            <a:off x="5943600" y="3403756"/>
            <a:ext cx="3200400" cy="346954"/>
          </a:xfrm>
          <a:prstGeom prst="rect">
            <a:avLst/>
          </a:prstGeom>
          <a:noFill/>
          <a:ln/>
        </p:spPr>
        <p:txBody>
          <a:bodyPr wrap="square" lIns="340233" tIns="0" rIns="340233" bIns="0" rtlCol="0" anchor="t">
            <a:spAutoFit/>
          </a:bodyPr>
          <a:lstStyle/>
          <a:p>
            <a:pPr marL="0" indent="0" algn="ctr">
              <a:lnSpc>
                <a:spcPts val="900"/>
              </a:lnSpc>
              <a:buNone/>
            </a:pPr>
            <a:r>
              <a:rPr lang="en-US" sz="900" dirty="0">
                <a:solidFill>
                  <a:srgbClr val="FFFFFF">
                    <a:alpha val="70000"/>
                  </a:srgbClr>
                </a:solidFill>
                <a:latin typeface="Arial" pitchFamily="34" charset="0"/>
                <a:ea typeface="Arial" pitchFamily="34" charset="-122"/>
                <a:cs typeface="Arial" pitchFamily="34" charset="-120"/>
              </a:rPr>
              <a:t>"Do patients who report a transportation barrier use acute care differently than otherwise similar patients?"</a:t>
            </a:r>
            <a:endParaRPr lang="en-US" sz="900" dirty="0"/>
          </a:p>
        </p:txBody>
      </p:sp>
      <p:sp>
        <p:nvSpPr>
          <p:cNvPr id="2" name="Text 5">
            <a:extLst>
              <a:ext uri="{FF2B5EF4-FFF2-40B4-BE49-F238E27FC236}">
                <a16:creationId xmlns:a16="http://schemas.microsoft.com/office/drawing/2014/main" id="{E52B5DC4-B5AE-B33B-4171-4B4229CE9EB2}"/>
              </a:ext>
            </a:extLst>
          </p:cNvPr>
          <p:cNvSpPr/>
          <p:nvPr/>
        </p:nvSpPr>
        <p:spPr>
          <a:xfrm>
            <a:off x="714374" y="3164572"/>
            <a:ext cx="2099186" cy="141064"/>
          </a:xfrm>
          <a:prstGeom prst="rect">
            <a:avLst/>
          </a:prstGeom>
          <a:noFill/>
          <a:ln/>
        </p:spPr>
        <p:txBody>
          <a:bodyPr wrap="square" lIns="0" tIns="0" rIns="0" bIns="0" rtlCol="0" anchor="t">
            <a:spAutoFit/>
          </a:bodyPr>
          <a:lstStyle/>
          <a:p>
            <a:pPr marL="0" indent="0" algn="l">
              <a:lnSpc>
                <a:spcPts val="1100"/>
              </a:lnSpc>
              <a:buNone/>
            </a:pPr>
            <a:r>
              <a:rPr lang="en-US" sz="1050" b="1" dirty="0">
                <a:solidFill>
                  <a:srgbClr val="334155"/>
                </a:solidFill>
                <a:latin typeface="Arial" pitchFamily="34" charset="0"/>
                <a:ea typeface="Arial" pitchFamily="34" charset="-122"/>
                <a:cs typeface="Arial" pitchFamily="34" charset="-120"/>
              </a:rPr>
              <a:t>OLAYINKA VAUGHAN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75478"/>
            <a:ext cx="8715375" cy="525066"/>
          </a:xfrm>
          <a:prstGeom prst="rect">
            <a:avLst/>
          </a:prstGeom>
          <a:noFill/>
          <a:ln/>
        </p:spPr>
        <p:txBody>
          <a:bodyPr wrap="square" lIns="170053" tIns="0" rIns="0" bIns="0" rtlCol="0" anchor="t">
            <a:spAutoFit/>
          </a:bodyPr>
          <a:lstStyle/>
          <a:p>
            <a:pPr marL="0" indent="0" algn="l">
              <a:lnSpc>
                <a:spcPts val="2200"/>
              </a:lnSpc>
              <a:buNone/>
            </a:pPr>
            <a:r>
              <a:rPr lang="en-US" sz="1602" b="1" dirty="0">
                <a:solidFill>
                  <a:srgbClr val="0F172A"/>
                </a:solidFill>
                <a:latin typeface="Arial" pitchFamily="34" charset="0"/>
                <a:ea typeface="Arial" pitchFamily="34" charset="-122"/>
                <a:cs typeface="Arial" pitchFamily="34" charset="-120"/>
              </a:rPr>
              <a:t>The Question: Does one transportation answer predict a different patient journey?</a:t>
            </a:r>
            <a:endParaRPr lang="en-US" sz="1602" dirty="0"/>
          </a:p>
        </p:txBody>
      </p:sp>
      <p:pic>
        <p:nvPicPr>
          <p:cNvPr id="5" name="Image 1" descr="preencoded.png"/>
          <p:cNvPicPr>
            <a:picLocks noChangeAspect="1"/>
          </p:cNvPicPr>
          <p:nvPr/>
        </p:nvPicPr>
        <p:blipFill>
          <a:blip r:embed="rId4"/>
          <a:stretch>
            <a:fillRect/>
          </a:stretch>
        </p:blipFill>
        <p:spPr>
          <a:xfrm>
            <a:off x="428625" y="1289895"/>
            <a:ext cx="210741" cy="151302"/>
          </a:xfrm>
          <a:prstGeom prst="rect">
            <a:avLst/>
          </a:prstGeom>
        </p:spPr>
      </p:pic>
      <p:sp>
        <p:nvSpPr>
          <p:cNvPr id="6" name="Text 1"/>
          <p:cNvSpPr/>
          <p:nvPr/>
        </p:nvSpPr>
        <p:spPr>
          <a:xfrm>
            <a:off x="639366" y="1333147"/>
            <a:ext cx="785087" cy="116122"/>
          </a:xfrm>
          <a:prstGeom prst="rect">
            <a:avLst/>
          </a:prstGeom>
          <a:noFill/>
          <a:ln/>
        </p:spPr>
        <p:txBody>
          <a:bodyPr wrap="none" lIns="0" tIns="0" rIns="0" bIns="0" rtlCol="0" anchor="t">
            <a:spAutoFit/>
          </a:bodyPr>
          <a:lstStyle/>
          <a:p>
            <a:pPr marL="0" indent="0" algn="l">
              <a:lnSpc>
                <a:spcPts val="900"/>
              </a:lnSpc>
              <a:buNone/>
            </a:pPr>
            <a:r>
              <a:rPr lang="en-US" sz="900" b="1" kern="0" spc="2" dirty="0">
                <a:solidFill>
                  <a:srgbClr val="94A3B8"/>
                </a:solidFill>
                <a:latin typeface="Arial" pitchFamily="34" charset="0"/>
                <a:ea typeface="Arial" pitchFamily="34" charset="-122"/>
                <a:cs typeface="Arial" pitchFamily="34" charset="-120"/>
              </a:rPr>
              <a:t>THE PREMISE</a:t>
            </a:r>
            <a:endParaRPr lang="en-US" sz="900" dirty="0"/>
          </a:p>
        </p:txBody>
      </p:sp>
      <p:sp>
        <p:nvSpPr>
          <p:cNvPr id="7" name="Shape 2"/>
          <p:cNvSpPr/>
          <p:nvPr/>
        </p:nvSpPr>
        <p:spPr>
          <a:xfrm>
            <a:off x="428625" y="1563532"/>
            <a:ext cx="3929063" cy="1388678"/>
          </a:xfrm>
          <a:prstGeom prst="rect">
            <a:avLst/>
          </a:prstGeom>
          <a:solidFill>
            <a:srgbClr val="FFFFFF"/>
          </a:solidFill>
          <a:ln w="9144">
            <a:solidFill>
              <a:srgbClr val="E2E8F0"/>
            </a:solidFill>
            <a:prstDash val="solid"/>
          </a:ln>
        </p:spPr>
        <p:txBody>
          <a:bodyPr/>
          <a:lstStyle/>
          <a:p>
            <a:endParaRPr lang="en-US"/>
          </a:p>
        </p:txBody>
      </p:sp>
      <p:sp>
        <p:nvSpPr>
          <p:cNvPr id="8" name="Text 3"/>
          <p:cNvSpPr/>
          <p:nvPr/>
        </p:nvSpPr>
        <p:spPr>
          <a:xfrm>
            <a:off x="535781" y="1816233"/>
            <a:ext cx="1210726" cy="340478"/>
          </a:xfrm>
          <a:prstGeom prst="rect">
            <a:avLst/>
          </a:prstGeom>
          <a:noFill/>
          <a:ln/>
        </p:spPr>
        <p:txBody>
          <a:bodyPr wrap="square" lIns="0" tIns="0" rIns="0" bIns="0" rtlCol="0" anchor="t">
            <a:spAutoFit/>
          </a:bodyPr>
          <a:lstStyle/>
          <a:p>
            <a:pPr marL="171450" indent="-171450" algn="l">
              <a:lnSpc>
                <a:spcPts val="1400"/>
              </a:lnSpc>
              <a:buFont typeface="Arial" panose="020B0604020202020204" pitchFamily="34" charset="0"/>
              <a:buChar char="•"/>
            </a:pPr>
            <a:r>
              <a:rPr lang="en-US" sz="800" b="1" dirty="0">
                <a:solidFill>
                  <a:srgbClr val="334155"/>
                </a:solidFill>
                <a:latin typeface="Arial" pitchFamily="34" charset="0"/>
                <a:ea typeface="Arial" pitchFamily="34" charset="-122"/>
                <a:cs typeface="Arial" pitchFamily="34" charset="-120"/>
              </a:rPr>
              <a:t>Missed Rides, Downstream Costs:</a:t>
            </a:r>
            <a:endParaRPr lang="en-US" sz="800" dirty="0"/>
          </a:p>
        </p:txBody>
      </p:sp>
      <p:sp>
        <p:nvSpPr>
          <p:cNvPr id="9" name="Text 4"/>
          <p:cNvSpPr/>
          <p:nvPr/>
        </p:nvSpPr>
        <p:spPr>
          <a:xfrm>
            <a:off x="1746507" y="1803608"/>
            <a:ext cx="2163970"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4155"/>
                </a:solidFill>
                <a:latin typeface="Arial" pitchFamily="34" charset="0"/>
                <a:ea typeface="Arial" pitchFamily="34" charset="-122"/>
                <a:cs typeface="Arial" pitchFamily="34" charset="-120"/>
              </a:rPr>
              <a:t>Transportation barriers often lead to missed routine appointments.</a:t>
            </a:r>
            <a:endParaRPr lang="en-US" sz="834" dirty="0"/>
          </a:p>
        </p:txBody>
      </p:sp>
      <p:sp>
        <p:nvSpPr>
          <p:cNvPr id="10" name="Text 5"/>
          <p:cNvSpPr/>
          <p:nvPr/>
        </p:nvSpPr>
        <p:spPr>
          <a:xfrm>
            <a:off x="535781" y="2250728"/>
            <a:ext cx="743620" cy="343748"/>
          </a:xfrm>
          <a:prstGeom prst="rect">
            <a:avLst/>
          </a:prstGeom>
          <a:noFill/>
          <a:ln/>
        </p:spPr>
        <p:txBody>
          <a:bodyPr wrap="square" lIns="0" tIns="0" rIns="0" bIns="0" rtlCol="0" anchor="t">
            <a:spAutoFit/>
          </a:bodyPr>
          <a:lstStyle/>
          <a:p>
            <a:pPr marL="171450" indent="-171450" algn="l">
              <a:lnSpc>
                <a:spcPts val="1400"/>
              </a:lnSpc>
              <a:buFont typeface="Arial" panose="020B0604020202020204" pitchFamily="34" charset="0"/>
              <a:buChar char="•"/>
            </a:pPr>
            <a:r>
              <a:rPr lang="en-US" sz="800" b="1" dirty="0">
                <a:solidFill>
                  <a:srgbClr val="334155"/>
                </a:solidFill>
                <a:latin typeface="Arial" pitchFamily="34" charset="0"/>
                <a:ea typeface="Arial" pitchFamily="34" charset="-122"/>
                <a:cs typeface="Arial" pitchFamily="34" charset="-120"/>
              </a:rPr>
              <a:t>Reactive Care:</a:t>
            </a:r>
            <a:endParaRPr lang="en-US" sz="800" dirty="0"/>
          </a:p>
        </p:txBody>
      </p:sp>
      <p:sp>
        <p:nvSpPr>
          <p:cNvPr id="11" name="Text 6"/>
          <p:cNvSpPr/>
          <p:nvPr/>
        </p:nvSpPr>
        <p:spPr>
          <a:xfrm>
            <a:off x="1424453" y="2259427"/>
            <a:ext cx="2863974"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334155"/>
                </a:solidFill>
                <a:latin typeface="Arial" pitchFamily="34" charset="0"/>
                <a:ea typeface="Arial" pitchFamily="34" charset="-122"/>
                <a:cs typeface="Arial" pitchFamily="34" charset="-120"/>
              </a:rPr>
              <a:t>Without preventive access, patients may rely more heavily on acute settings like the ED.</a:t>
            </a:r>
            <a:endParaRPr lang="en-US" sz="834" dirty="0"/>
          </a:p>
        </p:txBody>
      </p:sp>
      <p:sp>
        <p:nvSpPr>
          <p:cNvPr id="12" name="Shape 7"/>
          <p:cNvSpPr/>
          <p:nvPr/>
        </p:nvSpPr>
        <p:spPr>
          <a:xfrm>
            <a:off x="428625" y="3152235"/>
            <a:ext cx="3929063" cy="1285875"/>
          </a:xfrm>
          <a:prstGeom prst="rect">
            <a:avLst/>
          </a:prstGeom>
          <a:solidFill>
            <a:srgbClr val="0F172A"/>
          </a:solidFill>
          <a:ln/>
        </p:spPr>
        <p:txBody>
          <a:bodyPr/>
          <a:lstStyle/>
          <a:p>
            <a:endParaRPr lang="en-US"/>
          </a:p>
        </p:txBody>
      </p:sp>
      <p:sp>
        <p:nvSpPr>
          <p:cNvPr id="13" name="Shape 8"/>
          <p:cNvSpPr/>
          <p:nvPr/>
        </p:nvSpPr>
        <p:spPr>
          <a:xfrm>
            <a:off x="428625" y="3152235"/>
            <a:ext cx="42863" cy="1285875"/>
          </a:xfrm>
          <a:prstGeom prst="rect">
            <a:avLst/>
          </a:prstGeom>
          <a:solidFill>
            <a:srgbClr val="991B1B"/>
          </a:solidFill>
          <a:ln/>
        </p:spPr>
        <p:txBody>
          <a:bodyPr/>
          <a:lstStyle/>
          <a:p>
            <a:endParaRPr lang="en-US"/>
          </a:p>
        </p:txBody>
      </p:sp>
      <p:sp>
        <p:nvSpPr>
          <p:cNvPr id="14" name="Text 9"/>
          <p:cNvSpPr/>
          <p:nvPr/>
        </p:nvSpPr>
        <p:spPr>
          <a:xfrm>
            <a:off x="428625" y="3152235"/>
            <a:ext cx="3929063" cy="1149289"/>
          </a:xfrm>
          <a:prstGeom prst="rect">
            <a:avLst/>
          </a:prstGeom>
          <a:noFill/>
          <a:ln/>
        </p:spPr>
        <p:txBody>
          <a:bodyPr wrap="square" lIns="255143" tIns="255143" rIns="255143" bIns="255143" rtlCol="0" anchor="t">
            <a:spAutoFit/>
          </a:bodyPr>
          <a:lstStyle/>
          <a:p>
            <a:pPr marL="0" indent="0" algn="l">
              <a:lnSpc>
                <a:spcPts val="1700"/>
              </a:lnSpc>
              <a:buNone/>
            </a:pPr>
            <a:r>
              <a:rPr lang="en-US" sz="1050" i="1" dirty="0">
                <a:solidFill>
                  <a:srgbClr val="FFFFFF"/>
                </a:solidFill>
                <a:latin typeface="Arial" pitchFamily="34" charset="0"/>
                <a:ea typeface="Arial" pitchFamily="34" charset="-122"/>
                <a:cs typeface="Arial" pitchFamily="34" charset="-120"/>
              </a:rPr>
              <a:t>"If transportation keeps people from care, I expect to see more reactive use of the hospital system—not as a choice, but as a consequence of blocked access."</a:t>
            </a:r>
            <a:endParaRPr lang="en-US" sz="1050" dirty="0"/>
          </a:p>
        </p:txBody>
      </p:sp>
      <p:pic>
        <p:nvPicPr>
          <p:cNvPr id="15" name="Image 2" descr="preencoded.png"/>
          <p:cNvPicPr>
            <a:picLocks noChangeAspect="1"/>
          </p:cNvPicPr>
          <p:nvPr/>
        </p:nvPicPr>
        <p:blipFill>
          <a:blip r:embed="rId5"/>
          <a:stretch>
            <a:fillRect/>
          </a:stretch>
        </p:blipFill>
        <p:spPr>
          <a:xfrm>
            <a:off x="4786313" y="1261173"/>
            <a:ext cx="160734" cy="180023"/>
          </a:xfrm>
          <a:prstGeom prst="rect">
            <a:avLst/>
          </a:prstGeom>
        </p:spPr>
      </p:pic>
      <p:sp>
        <p:nvSpPr>
          <p:cNvPr id="16" name="Text 10"/>
          <p:cNvSpPr/>
          <p:nvPr/>
        </p:nvSpPr>
        <p:spPr>
          <a:xfrm>
            <a:off x="5000625" y="1307485"/>
            <a:ext cx="2921313" cy="116122"/>
          </a:xfrm>
          <a:prstGeom prst="rect">
            <a:avLst/>
          </a:prstGeom>
          <a:noFill/>
          <a:ln/>
        </p:spPr>
        <p:txBody>
          <a:bodyPr wrap="none" lIns="0" tIns="0" rIns="0" bIns="0" rtlCol="0" anchor="t">
            <a:spAutoFit/>
          </a:bodyPr>
          <a:lstStyle/>
          <a:p>
            <a:pPr marL="0" indent="0" algn="l">
              <a:lnSpc>
                <a:spcPts val="900"/>
              </a:lnSpc>
              <a:buNone/>
            </a:pPr>
            <a:r>
              <a:rPr lang="en-US" sz="900" b="1" kern="0" spc="2" dirty="0">
                <a:solidFill>
                  <a:srgbClr val="94A3B8"/>
                </a:solidFill>
                <a:latin typeface="Arial" pitchFamily="34" charset="0"/>
                <a:ea typeface="Arial" pitchFamily="34" charset="-122"/>
                <a:cs typeface="Arial" pitchFamily="34" charset="-120"/>
              </a:rPr>
              <a:t>WHAT I MEAN BY ONE TRANSPORTATION ANSWER</a:t>
            </a:r>
            <a:endParaRPr lang="en-US" sz="900" dirty="0"/>
          </a:p>
        </p:txBody>
      </p:sp>
      <p:sp>
        <p:nvSpPr>
          <p:cNvPr id="17" name="Shape 11"/>
          <p:cNvSpPr/>
          <p:nvPr/>
        </p:nvSpPr>
        <p:spPr>
          <a:xfrm>
            <a:off x="4786313" y="1563532"/>
            <a:ext cx="3929063" cy="1744861"/>
          </a:xfrm>
          <a:prstGeom prst="rect">
            <a:avLst/>
          </a:prstGeom>
          <a:solidFill>
            <a:srgbClr val="F1F5F9"/>
          </a:solidFill>
          <a:ln w="9144">
            <a:solidFill>
              <a:srgbClr val="E2E8F0"/>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5000625" y="1786775"/>
            <a:ext cx="128588" cy="114300"/>
          </a:xfrm>
          <a:prstGeom prst="rect">
            <a:avLst/>
          </a:prstGeom>
        </p:spPr>
      </p:pic>
      <p:sp>
        <p:nvSpPr>
          <p:cNvPr id="19" name="Text 12"/>
          <p:cNvSpPr/>
          <p:nvPr/>
        </p:nvSpPr>
        <p:spPr>
          <a:xfrm>
            <a:off x="5200650" y="1777845"/>
            <a:ext cx="1435336" cy="132159"/>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F172A"/>
                </a:solidFill>
                <a:latin typeface="Arial" pitchFamily="34" charset="0"/>
                <a:ea typeface="Arial" pitchFamily="34" charset="-122"/>
                <a:cs typeface="Arial" pitchFamily="34" charset="-120"/>
              </a:rPr>
              <a:t>Transportation Needs (Q1)</a:t>
            </a:r>
            <a:endParaRPr lang="en-US" sz="784" dirty="0"/>
          </a:p>
        </p:txBody>
      </p:sp>
      <p:sp>
        <p:nvSpPr>
          <p:cNvPr id="20" name="Text 13"/>
          <p:cNvSpPr/>
          <p:nvPr/>
        </p:nvSpPr>
        <p:spPr>
          <a:xfrm>
            <a:off x="5000625" y="1995729"/>
            <a:ext cx="3500438" cy="415498"/>
          </a:xfrm>
          <a:prstGeom prst="rect">
            <a:avLst/>
          </a:prstGeom>
          <a:noFill/>
          <a:ln/>
        </p:spPr>
        <p:txBody>
          <a:bodyPr wrap="square" lIns="221107" tIns="0" rIns="0" bIns="0" rtlCol="0" anchor="t">
            <a:spAutoFit/>
          </a:bodyPr>
          <a:lstStyle/>
          <a:p>
            <a:pPr marL="0" indent="0" algn="l">
              <a:buNone/>
            </a:pPr>
            <a:r>
              <a:rPr lang="en-US" sz="900" i="1" dirty="0">
                <a:solidFill>
                  <a:srgbClr val="64748B"/>
                </a:solidFill>
                <a:latin typeface="Arial" pitchFamily="34" charset="0"/>
                <a:ea typeface="Arial" pitchFamily="34" charset="-122"/>
                <a:cs typeface="Arial" pitchFamily="34" charset="-120"/>
              </a:rPr>
              <a:t>"In the past 12 months, has lack of transportation kept you from medical appointments, meetings, work, or from getting things needed for daily living?"</a:t>
            </a:r>
            <a:endParaRPr lang="en-US" sz="900" dirty="0"/>
          </a:p>
        </p:txBody>
      </p:sp>
      <p:pic>
        <p:nvPicPr>
          <p:cNvPr id="21" name="Image 4" descr="preencoded.png"/>
          <p:cNvPicPr>
            <a:picLocks noChangeAspect="1"/>
          </p:cNvPicPr>
          <p:nvPr/>
        </p:nvPicPr>
        <p:blipFill>
          <a:blip r:embed="rId7"/>
          <a:stretch>
            <a:fillRect/>
          </a:stretch>
        </p:blipFill>
        <p:spPr>
          <a:xfrm>
            <a:off x="5000625" y="2495792"/>
            <a:ext cx="114300" cy="114300"/>
          </a:xfrm>
          <a:prstGeom prst="rect">
            <a:avLst/>
          </a:prstGeom>
        </p:spPr>
      </p:pic>
      <p:sp>
        <p:nvSpPr>
          <p:cNvPr id="22" name="Text 14"/>
          <p:cNvSpPr/>
          <p:nvPr/>
        </p:nvSpPr>
        <p:spPr>
          <a:xfrm>
            <a:off x="5186363" y="2486862"/>
            <a:ext cx="1435336" cy="132159"/>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F172A"/>
                </a:solidFill>
                <a:latin typeface="Arial" pitchFamily="34" charset="0"/>
                <a:ea typeface="Arial" pitchFamily="34" charset="-122"/>
                <a:cs typeface="Arial" pitchFamily="34" charset="-120"/>
              </a:rPr>
              <a:t>Transportation Needs (Q2)</a:t>
            </a:r>
            <a:endParaRPr lang="en-US" sz="784" dirty="0"/>
          </a:p>
        </p:txBody>
      </p:sp>
      <p:sp>
        <p:nvSpPr>
          <p:cNvPr id="23" name="Text 15"/>
          <p:cNvSpPr/>
          <p:nvPr/>
        </p:nvSpPr>
        <p:spPr>
          <a:xfrm>
            <a:off x="5000625" y="2704747"/>
            <a:ext cx="3500438" cy="276999"/>
          </a:xfrm>
          <a:prstGeom prst="rect">
            <a:avLst/>
          </a:prstGeom>
          <a:noFill/>
          <a:ln/>
        </p:spPr>
        <p:txBody>
          <a:bodyPr wrap="square" lIns="221107" tIns="0" rIns="0" bIns="0" rtlCol="0" anchor="t">
            <a:spAutoFit/>
          </a:bodyPr>
          <a:lstStyle/>
          <a:p>
            <a:pPr marL="0" indent="0" algn="l">
              <a:buNone/>
            </a:pPr>
            <a:r>
              <a:rPr lang="en-US" sz="900" i="1" dirty="0">
                <a:solidFill>
                  <a:srgbClr val="64748B"/>
                </a:solidFill>
                <a:latin typeface="Arial" pitchFamily="34" charset="0"/>
                <a:ea typeface="Arial" pitchFamily="34" charset="-122"/>
                <a:cs typeface="Arial" pitchFamily="34" charset="-120"/>
              </a:rPr>
              <a:t>"In the past 12 months, have you ever had to worry about not having a way to get to your medical appointments?"</a:t>
            </a:r>
            <a:endParaRPr lang="en-US" sz="900" dirty="0"/>
          </a:p>
        </p:txBody>
      </p:sp>
      <p:sp>
        <p:nvSpPr>
          <p:cNvPr id="2" name="Shape 8">
            <a:extLst>
              <a:ext uri="{FF2B5EF4-FFF2-40B4-BE49-F238E27FC236}">
                <a16:creationId xmlns:a16="http://schemas.microsoft.com/office/drawing/2014/main" id="{6157DFDE-3900-95F6-5CAA-188C5F92810B}"/>
              </a:ext>
            </a:extLst>
          </p:cNvPr>
          <p:cNvSpPr/>
          <p:nvPr/>
        </p:nvSpPr>
        <p:spPr>
          <a:xfrm>
            <a:off x="428625" y="304646"/>
            <a:ext cx="45719" cy="650246"/>
          </a:xfrm>
          <a:prstGeom prst="rect">
            <a:avLst/>
          </a:prstGeom>
          <a:solidFill>
            <a:srgbClr val="C00000"/>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196454"/>
            <a:ext cx="8715375" cy="262533"/>
          </a:xfrm>
          <a:prstGeom prst="rect">
            <a:avLst/>
          </a:prstGeom>
          <a:noFill/>
          <a:ln/>
        </p:spPr>
        <p:txBody>
          <a:bodyPr wrap="none" lIns="170053" tIns="0" rIns="0" bIns="0" rtlCol="0" anchor="t">
            <a:spAutoFit/>
          </a:bodyPr>
          <a:lstStyle/>
          <a:p>
            <a:pPr marL="0" indent="0" algn="l">
              <a:lnSpc>
                <a:spcPts val="2200"/>
              </a:lnSpc>
              <a:buNone/>
            </a:pPr>
            <a:r>
              <a:rPr lang="en-US" sz="1602" b="1" dirty="0">
                <a:solidFill>
                  <a:srgbClr val="0F172A"/>
                </a:solidFill>
                <a:latin typeface="Arial" pitchFamily="34" charset="0"/>
                <a:ea typeface="Arial" pitchFamily="34" charset="-122"/>
                <a:cs typeface="Arial" pitchFamily="34" charset="-120"/>
              </a:rPr>
              <a:t>Transport barrier predicts acute-care use after age and sex adjustment</a:t>
            </a:r>
            <a:endParaRPr lang="en-US" sz="1602" dirty="0"/>
          </a:p>
        </p:txBody>
      </p:sp>
      <p:sp>
        <p:nvSpPr>
          <p:cNvPr id="7" name="Shape 2"/>
          <p:cNvSpPr/>
          <p:nvPr/>
        </p:nvSpPr>
        <p:spPr>
          <a:xfrm>
            <a:off x="428625" y="789384"/>
            <a:ext cx="4467216" cy="2130623"/>
          </a:xfrm>
          <a:prstGeom prst="rect">
            <a:avLst/>
          </a:prstGeom>
          <a:solidFill>
            <a:srgbClr val="F1F5F9"/>
          </a:solidFill>
          <a:ln w="18288">
            <a:solidFill>
              <a:srgbClr val="CBD5E1"/>
            </a:solidFill>
            <a:prstDash val="dash"/>
          </a:ln>
        </p:spPr>
        <p:txBody>
          <a:bodyPr/>
          <a:lstStyle/>
          <a:p>
            <a:endParaRPr lang="en-US"/>
          </a:p>
        </p:txBody>
      </p:sp>
      <p:sp>
        <p:nvSpPr>
          <p:cNvPr id="8" name="Text 3"/>
          <p:cNvSpPr/>
          <p:nvPr/>
        </p:nvSpPr>
        <p:spPr>
          <a:xfrm>
            <a:off x="833977" y="1796653"/>
            <a:ext cx="1867979" cy="11608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Arial" pitchFamily="34" charset="0"/>
                <a:ea typeface="Arial" pitchFamily="34" charset="-122"/>
                <a:cs typeface="Arial" pitchFamily="34" charset="-120"/>
              </a:rPr>
              <a:t>[FIGURE: fig2_transport_adjusted_or.png]</a:t>
            </a:r>
            <a:endParaRPr lang="en-US" sz="727" dirty="0"/>
          </a:p>
        </p:txBody>
      </p:sp>
      <p:sp>
        <p:nvSpPr>
          <p:cNvPr id="9" name="Text 4"/>
          <p:cNvSpPr/>
          <p:nvPr/>
        </p:nvSpPr>
        <p:spPr>
          <a:xfrm>
            <a:off x="2701956" y="1838623"/>
            <a:ext cx="1788533" cy="89297"/>
          </a:xfrm>
          <a:prstGeom prst="rect">
            <a:avLst/>
          </a:prstGeom>
          <a:noFill/>
          <a:ln/>
        </p:spPr>
        <p:txBody>
          <a:bodyPr wrap="none" lIns="0" tIns="0" rIns="0" bIns="0" rtlCol="0" anchor="t">
            <a:spAutoFit/>
          </a:bodyPr>
          <a:lstStyle/>
          <a:p>
            <a:pPr marL="0" indent="0" algn="ctr">
              <a:lnSpc>
                <a:spcPts val="700"/>
              </a:lnSpc>
              <a:buNone/>
            </a:pPr>
            <a:r>
              <a:rPr lang="en-US" sz="568" dirty="0">
                <a:solidFill>
                  <a:srgbClr val="94A3B8"/>
                </a:solidFill>
                <a:latin typeface="Arial" pitchFamily="34" charset="0"/>
                <a:ea typeface="Arial" pitchFamily="34" charset="-122"/>
                <a:cs typeface="Arial" pitchFamily="34" charset="-120"/>
              </a:rPr>
              <a:t>Odds ratio vs no transport barrier (Reference = 1.0)</a:t>
            </a:r>
            <a:endParaRPr lang="en-US" sz="568" dirty="0"/>
          </a:p>
        </p:txBody>
      </p:sp>
      <p:sp>
        <p:nvSpPr>
          <p:cNvPr id="10" name="Shape 5"/>
          <p:cNvSpPr/>
          <p:nvPr/>
        </p:nvSpPr>
        <p:spPr>
          <a:xfrm>
            <a:off x="5507728" y="608548"/>
            <a:ext cx="3473607" cy="2286000"/>
          </a:xfrm>
          <a:prstGeom prst="rect">
            <a:avLst/>
          </a:prstGeom>
          <a:solidFill>
            <a:srgbClr val="F1F5F9"/>
          </a:solidFill>
          <a:ln/>
        </p:spPr>
        <p:txBody>
          <a:bodyPr/>
          <a:lstStyle/>
          <a:p>
            <a:endParaRPr lang="en-US"/>
          </a:p>
        </p:txBody>
      </p:sp>
      <p:sp>
        <p:nvSpPr>
          <p:cNvPr id="11" name="Shape 6"/>
          <p:cNvSpPr/>
          <p:nvPr/>
        </p:nvSpPr>
        <p:spPr>
          <a:xfrm>
            <a:off x="5507728" y="652828"/>
            <a:ext cx="3533784" cy="28575"/>
          </a:xfrm>
          <a:prstGeom prst="rect">
            <a:avLst/>
          </a:prstGeom>
          <a:solidFill>
            <a:srgbClr val="0F172A"/>
          </a:solidFill>
          <a:ln/>
        </p:spPr>
        <p:txBody>
          <a:bodyPr/>
          <a:lstStyle/>
          <a:p>
            <a:endParaRPr lang="en-US"/>
          </a:p>
        </p:txBody>
      </p:sp>
      <p:sp>
        <p:nvSpPr>
          <p:cNvPr id="12" name="Shape 7"/>
          <p:cNvSpPr/>
          <p:nvPr/>
        </p:nvSpPr>
        <p:spPr>
          <a:xfrm>
            <a:off x="5619002" y="765710"/>
            <a:ext cx="3190884" cy="342900"/>
          </a:xfrm>
          <a:prstGeom prst="rect">
            <a:avLst/>
          </a:prstGeom>
          <a:solidFill>
            <a:srgbClr val="FFFFFF"/>
          </a:solidFill>
          <a:ln w="9144">
            <a:solidFill>
              <a:srgbClr val="E2E8F0"/>
            </a:solidFill>
            <a:prstDash val="solid"/>
          </a:ln>
        </p:spPr>
        <p:txBody>
          <a:bodyPr/>
          <a:lstStyle/>
          <a:p>
            <a:endParaRPr lang="en-US"/>
          </a:p>
        </p:txBody>
      </p:sp>
      <p:pic>
        <p:nvPicPr>
          <p:cNvPr id="13" name="Image 2" descr="preencoded.png"/>
          <p:cNvPicPr>
            <a:picLocks noChangeAspect="1"/>
          </p:cNvPicPr>
          <p:nvPr/>
        </p:nvPicPr>
        <p:blipFill>
          <a:blip r:embed="rId4"/>
          <a:stretch>
            <a:fillRect/>
          </a:stretch>
        </p:blipFill>
        <p:spPr>
          <a:xfrm>
            <a:off x="5642103" y="837148"/>
            <a:ext cx="188451" cy="166093"/>
          </a:xfrm>
          <a:prstGeom prst="rect">
            <a:avLst/>
          </a:prstGeom>
        </p:spPr>
      </p:pic>
      <p:sp>
        <p:nvSpPr>
          <p:cNvPr id="14" name="Text 8"/>
          <p:cNvSpPr/>
          <p:nvPr/>
        </p:nvSpPr>
        <p:spPr>
          <a:xfrm>
            <a:off x="5879204" y="841613"/>
            <a:ext cx="2340694" cy="105370"/>
          </a:xfrm>
          <a:prstGeom prst="rect">
            <a:avLst/>
          </a:prstGeom>
          <a:noFill/>
          <a:ln/>
        </p:spPr>
        <p:txBody>
          <a:bodyPr wrap="none" lIns="0" tIns="0" rIns="0" bIns="0" rtlCol="0" anchor="t">
            <a:spAutoFit/>
          </a:bodyPr>
          <a:lstStyle/>
          <a:p>
            <a:pPr marL="0" indent="0" algn="l">
              <a:lnSpc>
                <a:spcPts val="900"/>
              </a:lnSpc>
              <a:buNone/>
            </a:pPr>
            <a:r>
              <a:rPr lang="en-US" sz="674" dirty="0">
                <a:solidFill>
                  <a:srgbClr val="64748B"/>
                </a:solidFill>
                <a:latin typeface="Courier New" pitchFamily="34" charset="0"/>
                <a:ea typeface="Courier New" pitchFamily="34" charset="-122"/>
                <a:cs typeface="Courier New" pitchFamily="34" charset="-120"/>
              </a:rPr>
              <a:t>Logistic: outcome ~ transport + age + sex</a:t>
            </a:r>
            <a:endParaRPr lang="en-US" sz="674" dirty="0"/>
          </a:p>
        </p:txBody>
      </p:sp>
      <p:sp>
        <p:nvSpPr>
          <p:cNvPr id="15" name="Text 9"/>
          <p:cNvSpPr/>
          <p:nvPr/>
        </p:nvSpPr>
        <p:spPr>
          <a:xfrm>
            <a:off x="5879204" y="946090"/>
            <a:ext cx="1727643" cy="105370"/>
          </a:xfrm>
          <a:prstGeom prst="rect">
            <a:avLst/>
          </a:prstGeom>
          <a:noFill/>
          <a:ln/>
        </p:spPr>
        <p:txBody>
          <a:bodyPr wrap="none" lIns="0" tIns="0" rIns="0" bIns="0" rtlCol="0" anchor="t">
            <a:spAutoFit/>
          </a:bodyPr>
          <a:lstStyle/>
          <a:p>
            <a:pPr marL="0" indent="0" algn="l">
              <a:lnSpc>
                <a:spcPts val="900"/>
              </a:lnSpc>
              <a:buNone/>
            </a:pPr>
            <a:r>
              <a:rPr lang="en-US" sz="674" dirty="0">
                <a:solidFill>
                  <a:srgbClr val="64748B"/>
                </a:solidFill>
                <a:latin typeface="Courier New" pitchFamily="34" charset="0"/>
                <a:ea typeface="Courier New" pitchFamily="34" charset="-122"/>
                <a:cs typeface="Courier New" pitchFamily="34" charset="-120"/>
              </a:rPr>
              <a:t>n = 58,639 | Screening Rate ~6%</a:t>
            </a:r>
            <a:endParaRPr lang="en-US" sz="674" dirty="0"/>
          </a:p>
        </p:txBody>
      </p:sp>
      <p:pic>
        <p:nvPicPr>
          <p:cNvPr id="16" name="Image 3" descr="preencoded.png"/>
          <p:cNvPicPr>
            <a:picLocks noChangeAspect="1"/>
          </p:cNvPicPr>
          <p:nvPr/>
        </p:nvPicPr>
        <p:blipFill>
          <a:blip r:embed="rId5"/>
          <a:stretch>
            <a:fillRect/>
          </a:stretch>
        </p:blipFill>
        <p:spPr>
          <a:xfrm>
            <a:off x="5619002" y="1337210"/>
            <a:ext cx="125016" cy="100013"/>
          </a:xfrm>
          <a:prstGeom prst="rect">
            <a:avLst/>
          </a:prstGeom>
        </p:spPr>
      </p:pic>
      <p:sp>
        <p:nvSpPr>
          <p:cNvPr id="17" name="Text 10"/>
          <p:cNvSpPr/>
          <p:nvPr/>
        </p:nvSpPr>
        <p:spPr>
          <a:xfrm>
            <a:off x="5801167" y="1321137"/>
            <a:ext cx="658564" cy="128588"/>
          </a:xfrm>
          <a:prstGeom prst="rect">
            <a:avLst/>
          </a:prstGeom>
          <a:noFill/>
          <a:ln/>
        </p:spPr>
        <p:txBody>
          <a:bodyPr wrap="none" lIns="0" tIns="0" rIns="0" bIns="0" rtlCol="0" anchor="t">
            <a:spAutoFit/>
          </a:bodyPr>
          <a:lstStyle/>
          <a:p>
            <a:pPr marL="0" indent="0" algn="l">
              <a:lnSpc>
                <a:spcPts val="1100"/>
              </a:lnSpc>
              <a:buNone/>
            </a:pPr>
            <a:r>
              <a:rPr lang="en-US" sz="834" dirty="0">
                <a:solidFill>
                  <a:srgbClr val="475569"/>
                </a:solidFill>
                <a:latin typeface="Arial" pitchFamily="34" charset="0"/>
                <a:ea typeface="Arial" pitchFamily="34" charset="-122"/>
                <a:cs typeface="Arial" pitchFamily="34" charset="-120"/>
              </a:rPr>
              <a:t>Any ED Visit</a:t>
            </a:r>
            <a:endParaRPr lang="en-US" sz="834" dirty="0"/>
          </a:p>
        </p:txBody>
      </p:sp>
      <p:sp>
        <p:nvSpPr>
          <p:cNvPr id="18" name="Text 11"/>
          <p:cNvSpPr/>
          <p:nvPr/>
        </p:nvSpPr>
        <p:spPr>
          <a:xfrm>
            <a:off x="8364964" y="1215767"/>
            <a:ext cx="444922"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F172A"/>
                </a:solidFill>
                <a:latin typeface="Arial" pitchFamily="34" charset="0"/>
                <a:ea typeface="Arial" pitchFamily="34" charset="-122"/>
                <a:cs typeface="Arial" pitchFamily="34" charset="-120"/>
              </a:rPr>
              <a:t>3.17</a:t>
            </a:r>
            <a:endParaRPr lang="en-US" sz="1602" dirty="0"/>
          </a:p>
        </p:txBody>
      </p:sp>
      <p:sp>
        <p:nvSpPr>
          <p:cNvPr id="19" name="Text 12"/>
          <p:cNvSpPr/>
          <p:nvPr/>
        </p:nvSpPr>
        <p:spPr>
          <a:xfrm>
            <a:off x="7780628" y="1535449"/>
            <a:ext cx="1038746" cy="135358"/>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991B1B"/>
                </a:solidFill>
                <a:latin typeface="Arial" pitchFamily="34" charset="0"/>
                <a:ea typeface="Arial" pitchFamily="34" charset="-122"/>
                <a:cs typeface="Arial" pitchFamily="34" charset="-120"/>
              </a:rPr>
              <a:t>[95% CI: 2.93–3.43]</a:t>
            </a:r>
            <a:endParaRPr lang="en-US" sz="900" dirty="0"/>
          </a:p>
        </p:txBody>
      </p:sp>
      <p:pic>
        <p:nvPicPr>
          <p:cNvPr id="20" name="Image 4" descr="preencoded.png"/>
          <p:cNvPicPr>
            <a:picLocks noChangeAspect="1"/>
          </p:cNvPicPr>
          <p:nvPr/>
        </p:nvPicPr>
        <p:blipFill>
          <a:blip r:embed="rId6"/>
          <a:stretch>
            <a:fillRect/>
          </a:stretch>
        </p:blipFill>
        <p:spPr>
          <a:xfrm>
            <a:off x="5619002" y="1903353"/>
            <a:ext cx="125016" cy="100013"/>
          </a:xfrm>
          <a:prstGeom prst="rect">
            <a:avLst/>
          </a:prstGeom>
        </p:spPr>
      </p:pic>
      <p:sp>
        <p:nvSpPr>
          <p:cNvPr id="21" name="Text 13"/>
          <p:cNvSpPr/>
          <p:nvPr/>
        </p:nvSpPr>
        <p:spPr>
          <a:xfrm>
            <a:off x="5801167" y="1887279"/>
            <a:ext cx="692665" cy="128588"/>
          </a:xfrm>
          <a:prstGeom prst="rect">
            <a:avLst/>
          </a:prstGeom>
          <a:noFill/>
          <a:ln/>
        </p:spPr>
        <p:txBody>
          <a:bodyPr wrap="none" lIns="0" tIns="0" rIns="0" bIns="0" rtlCol="0" anchor="t">
            <a:spAutoFit/>
          </a:bodyPr>
          <a:lstStyle/>
          <a:p>
            <a:pPr marL="0" indent="0" algn="l">
              <a:lnSpc>
                <a:spcPts val="1100"/>
              </a:lnSpc>
              <a:buNone/>
            </a:pPr>
            <a:r>
              <a:rPr lang="en-US" sz="834" dirty="0">
                <a:solidFill>
                  <a:srgbClr val="475569"/>
                </a:solidFill>
                <a:latin typeface="Arial" pitchFamily="34" charset="0"/>
                <a:ea typeface="Arial" pitchFamily="34" charset="-122"/>
                <a:cs typeface="Arial" pitchFamily="34" charset="-120"/>
              </a:rPr>
              <a:t>Any Inpatient</a:t>
            </a:r>
            <a:endParaRPr lang="en-US" sz="834" dirty="0"/>
          </a:p>
        </p:txBody>
      </p:sp>
      <p:sp>
        <p:nvSpPr>
          <p:cNvPr id="22" name="Text 14"/>
          <p:cNvSpPr/>
          <p:nvPr/>
        </p:nvSpPr>
        <p:spPr>
          <a:xfrm>
            <a:off x="8364964" y="1781909"/>
            <a:ext cx="444922" cy="262533"/>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F172A"/>
                </a:solidFill>
                <a:latin typeface="Arial" pitchFamily="34" charset="0"/>
                <a:ea typeface="Arial" pitchFamily="34" charset="-122"/>
                <a:cs typeface="Arial" pitchFamily="34" charset="-120"/>
              </a:rPr>
              <a:t>3.49</a:t>
            </a:r>
            <a:endParaRPr lang="en-US" sz="1602" dirty="0"/>
          </a:p>
        </p:txBody>
      </p:sp>
      <p:sp>
        <p:nvSpPr>
          <p:cNvPr id="23" name="Text 15"/>
          <p:cNvSpPr/>
          <p:nvPr/>
        </p:nvSpPr>
        <p:spPr>
          <a:xfrm>
            <a:off x="7780628" y="2101592"/>
            <a:ext cx="1038746" cy="135358"/>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991B1B"/>
                </a:solidFill>
                <a:latin typeface="Arial" pitchFamily="34" charset="0"/>
                <a:ea typeface="Arial" pitchFamily="34" charset="-122"/>
                <a:cs typeface="Arial" pitchFamily="34" charset="-120"/>
              </a:rPr>
              <a:t>[95% CI: 3.23–3.77]</a:t>
            </a:r>
            <a:endParaRPr lang="en-US" sz="900" dirty="0"/>
          </a:p>
        </p:txBody>
      </p:sp>
      <p:pic>
        <p:nvPicPr>
          <p:cNvPr id="24" name="Image 5" descr="preencoded.png"/>
          <p:cNvPicPr>
            <a:picLocks noChangeAspect="1"/>
          </p:cNvPicPr>
          <p:nvPr/>
        </p:nvPicPr>
        <p:blipFill>
          <a:blip r:embed="rId7"/>
          <a:stretch>
            <a:fillRect/>
          </a:stretch>
        </p:blipFill>
        <p:spPr>
          <a:xfrm>
            <a:off x="5619002" y="2503428"/>
            <a:ext cx="100013" cy="100013"/>
          </a:xfrm>
          <a:prstGeom prst="rect">
            <a:avLst/>
          </a:prstGeom>
        </p:spPr>
      </p:pic>
      <p:sp>
        <p:nvSpPr>
          <p:cNvPr id="25" name="Text 16"/>
          <p:cNvSpPr/>
          <p:nvPr/>
        </p:nvSpPr>
        <p:spPr>
          <a:xfrm>
            <a:off x="5804985" y="2510354"/>
            <a:ext cx="3007575" cy="112514"/>
          </a:xfrm>
          <a:prstGeom prst="rect">
            <a:avLst/>
          </a:prstGeom>
          <a:noFill/>
          <a:ln/>
        </p:spPr>
        <p:txBody>
          <a:bodyPr wrap="none" lIns="0" tIns="0" rIns="0" bIns="0" rtlCol="0" anchor="t">
            <a:spAutoFit/>
          </a:bodyPr>
          <a:lstStyle/>
          <a:p>
            <a:pPr marL="0" indent="0" algn="l">
              <a:lnSpc>
                <a:spcPts val="900"/>
              </a:lnSpc>
              <a:buNone/>
            </a:pPr>
            <a:r>
              <a:rPr lang="en-US" sz="727" i="1" dirty="0">
                <a:solidFill>
                  <a:srgbClr val="0F172A"/>
                </a:solidFill>
                <a:latin typeface="Arial" pitchFamily="34" charset="0"/>
                <a:ea typeface="Arial" pitchFamily="34" charset="-122"/>
                <a:cs typeface="Arial" pitchFamily="34" charset="-120"/>
              </a:rPr>
              <a:t>Barrier group is younger (median 51 vs 61) — effect is independent</a:t>
            </a:r>
            <a:endParaRPr lang="en-US" sz="727" dirty="0"/>
          </a:p>
        </p:txBody>
      </p:sp>
      <p:sp>
        <p:nvSpPr>
          <p:cNvPr id="26" name="Text 17"/>
          <p:cNvSpPr/>
          <p:nvPr/>
        </p:nvSpPr>
        <p:spPr>
          <a:xfrm>
            <a:off x="5778380" y="2641620"/>
            <a:ext cx="305870" cy="112514"/>
          </a:xfrm>
          <a:prstGeom prst="rect">
            <a:avLst/>
          </a:prstGeom>
          <a:noFill/>
          <a:ln/>
        </p:spPr>
        <p:txBody>
          <a:bodyPr wrap="none" lIns="0" tIns="0" rIns="0" bIns="0" rtlCol="0" anchor="t">
            <a:spAutoFit/>
          </a:bodyPr>
          <a:lstStyle/>
          <a:p>
            <a:pPr marL="0" indent="0" algn="l">
              <a:lnSpc>
                <a:spcPts val="900"/>
              </a:lnSpc>
              <a:buNone/>
            </a:pPr>
            <a:r>
              <a:rPr lang="en-US" sz="727" i="1" dirty="0">
                <a:solidFill>
                  <a:srgbClr val="0F172A"/>
                </a:solidFill>
                <a:latin typeface="Arial" pitchFamily="34" charset="0"/>
                <a:ea typeface="Arial" pitchFamily="34" charset="-122"/>
                <a:cs typeface="Arial" pitchFamily="34" charset="-120"/>
              </a:rPr>
              <a:t>of age.</a:t>
            </a:r>
            <a:endParaRPr lang="en-US" sz="727" dirty="0"/>
          </a:p>
        </p:txBody>
      </p:sp>
      <p:pic>
        <p:nvPicPr>
          <p:cNvPr id="27" name="Image 6" descr="preencoded.png"/>
          <p:cNvPicPr>
            <a:picLocks noChangeAspect="1"/>
          </p:cNvPicPr>
          <p:nvPr/>
        </p:nvPicPr>
        <p:blipFill>
          <a:blip r:embed="rId8"/>
          <a:stretch>
            <a:fillRect/>
          </a:stretch>
        </p:blipFill>
        <p:spPr>
          <a:xfrm>
            <a:off x="428625" y="3071813"/>
            <a:ext cx="144661" cy="128588"/>
          </a:xfrm>
          <a:prstGeom prst="rect">
            <a:avLst/>
          </a:prstGeom>
        </p:spPr>
      </p:pic>
      <p:sp>
        <p:nvSpPr>
          <p:cNvPr id="28" name="Text 18"/>
          <p:cNvSpPr/>
          <p:nvPr/>
        </p:nvSpPr>
        <p:spPr>
          <a:xfrm>
            <a:off x="659011" y="3062883"/>
            <a:ext cx="3208855" cy="146447"/>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F172A"/>
                </a:solidFill>
                <a:latin typeface="Arial" pitchFamily="34" charset="0"/>
                <a:ea typeface="Arial" pitchFamily="34" charset="-122"/>
                <a:cs typeface="Arial" pitchFamily="34" charset="-120"/>
              </a:rPr>
              <a:t>180-day ED return after index encounter (2022–2025)</a:t>
            </a:r>
            <a:endParaRPr lang="en-US" sz="885" dirty="0"/>
          </a:p>
        </p:txBody>
      </p:sp>
      <p:sp>
        <p:nvSpPr>
          <p:cNvPr id="29" name="Shape 19"/>
          <p:cNvSpPr/>
          <p:nvPr/>
        </p:nvSpPr>
        <p:spPr>
          <a:xfrm>
            <a:off x="428625" y="3295055"/>
            <a:ext cx="2486025" cy="212527"/>
          </a:xfrm>
          <a:prstGeom prst="rect">
            <a:avLst/>
          </a:prstGeom>
          <a:solidFill>
            <a:srgbClr val="0F172A"/>
          </a:solidFill>
          <a:ln/>
        </p:spPr>
        <p:txBody>
          <a:bodyPr/>
          <a:lstStyle/>
          <a:p>
            <a:endParaRPr lang="en-US"/>
          </a:p>
        </p:txBody>
      </p:sp>
      <p:sp>
        <p:nvSpPr>
          <p:cNvPr id="30" name="Text 20"/>
          <p:cNvSpPr/>
          <p:nvPr/>
        </p:nvSpPr>
        <p:spPr>
          <a:xfrm>
            <a:off x="428625" y="3295055"/>
            <a:ext cx="2486025" cy="212527"/>
          </a:xfrm>
          <a:prstGeom prst="rect">
            <a:avLst/>
          </a:prstGeom>
          <a:noFill/>
          <a:ln/>
        </p:spPr>
        <p:txBody>
          <a:bodyPr wrap="square" lIns="102108" tIns="68072" rIns="102108" bIns="68072" rtlCol="0" anchor="ctr">
            <a:spAutoFit/>
          </a:bodyPr>
          <a:lstStyle/>
          <a:p>
            <a:pPr marL="0" indent="0" algn="l">
              <a:lnSpc>
                <a:spcPts val="800"/>
              </a:lnSpc>
              <a:buNone/>
            </a:pPr>
            <a:r>
              <a:rPr lang="en-US" sz="584" b="1" kern="0" spc="1" dirty="0">
                <a:solidFill>
                  <a:srgbClr val="FFFFFF"/>
                </a:solidFill>
                <a:latin typeface="Arial" pitchFamily="34" charset="0"/>
                <a:ea typeface="Arial" pitchFamily="34" charset="-122"/>
                <a:cs typeface="Arial" pitchFamily="34" charset="-120"/>
              </a:rPr>
              <a:t>CONDITION (INDEX)</a:t>
            </a:r>
            <a:endParaRPr lang="en-US" sz="584" dirty="0"/>
          </a:p>
        </p:txBody>
      </p:sp>
      <p:sp>
        <p:nvSpPr>
          <p:cNvPr id="31" name="Shape 21"/>
          <p:cNvSpPr/>
          <p:nvPr/>
        </p:nvSpPr>
        <p:spPr>
          <a:xfrm>
            <a:off x="2914650" y="3295055"/>
            <a:ext cx="3037935" cy="212527"/>
          </a:xfrm>
          <a:prstGeom prst="rect">
            <a:avLst/>
          </a:prstGeom>
          <a:solidFill>
            <a:srgbClr val="0F172A"/>
          </a:solidFill>
          <a:ln/>
        </p:spPr>
        <p:txBody>
          <a:bodyPr/>
          <a:lstStyle/>
          <a:p>
            <a:endParaRPr lang="en-US"/>
          </a:p>
        </p:txBody>
      </p:sp>
      <p:sp>
        <p:nvSpPr>
          <p:cNvPr id="32" name="Text 22"/>
          <p:cNvSpPr/>
          <p:nvPr/>
        </p:nvSpPr>
        <p:spPr>
          <a:xfrm>
            <a:off x="2914650" y="3295055"/>
            <a:ext cx="3037935" cy="212527"/>
          </a:xfrm>
          <a:prstGeom prst="rect">
            <a:avLst/>
          </a:prstGeom>
          <a:noFill/>
          <a:ln/>
        </p:spPr>
        <p:txBody>
          <a:bodyPr wrap="square" lIns="102108" tIns="68072" rIns="102108" bIns="68072" rtlCol="0" anchor="ctr">
            <a:spAutoFit/>
          </a:bodyPr>
          <a:lstStyle/>
          <a:p>
            <a:pPr marL="0" indent="0" algn="r">
              <a:lnSpc>
                <a:spcPts val="800"/>
              </a:lnSpc>
              <a:buNone/>
            </a:pPr>
            <a:r>
              <a:rPr lang="en-US" sz="584" b="1" kern="0" spc="1" dirty="0">
                <a:solidFill>
                  <a:srgbClr val="FFFFFF"/>
                </a:solidFill>
                <a:latin typeface="Arial" pitchFamily="34" charset="0"/>
                <a:ea typeface="Arial" pitchFamily="34" charset="-122"/>
                <a:cs typeface="Arial" pitchFamily="34" charset="-120"/>
              </a:rPr>
              <a:t>NO BARRIER — % WITH ED VISIT (N)</a:t>
            </a:r>
            <a:endParaRPr lang="en-US" sz="584" dirty="0"/>
          </a:p>
        </p:txBody>
      </p:sp>
      <p:sp>
        <p:nvSpPr>
          <p:cNvPr id="33" name="Shape 23"/>
          <p:cNvSpPr/>
          <p:nvPr/>
        </p:nvSpPr>
        <p:spPr>
          <a:xfrm>
            <a:off x="5952585" y="3295055"/>
            <a:ext cx="2762790" cy="212527"/>
          </a:xfrm>
          <a:prstGeom prst="rect">
            <a:avLst/>
          </a:prstGeom>
          <a:solidFill>
            <a:srgbClr val="0F172A"/>
          </a:solidFill>
          <a:ln/>
        </p:spPr>
        <p:txBody>
          <a:bodyPr/>
          <a:lstStyle/>
          <a:p>
            <a:endParaRPr lang="en-US"/>
          </a:p>
        </p:txBody>
      </p:sp>
      <p:sp>
        <p:nvSpPr>
          <p:cNvPr id="34" name="Text 24"/>
          <p:cNvSpPr/>
          <p:nvPr/>
        </p:nvSpPr>
        <p:spPr>
          <a:xfrm>
            <a:off x="5952585" y="3295055"/>
            <a:ext cx="2762790" cy="212527"/>
          </a:xfrm>
          <a:prstGeom prst="rect">
            <a:avLst/>
          </a:prstGeom>
          <a:noFill/>
          <a:ln/>
        </p:spPr>
        <p:txBody>
          <a:bodyPr wrap="square" lIns="102108" tIns="68072" rIns="102108" bIns="68072" rtlCol="0" anchor="ctr">
            <a:spAutoFit/>
          </a:bodyPr>
          <a:lstStyle/>
          <a:p>
            <a:pPr marL="0" indent="0" algn="r">
              <a:lnSpc>
                <a:spcPts val="800"/>
              </a:lnSpc>
              <a:buNone/>
            </a:pPr>
            <a:r>
              <a:rPr lang="en-US" sz="584" b="1" kern="0" spc="1" dirty="0">
                <a:solidFill>
                  <a:srgbClr val="FFFFFF"/>
                </a:solidFill>
                <a:latin typeface="Arial" pitchFamily="34" charset="0"/>
                <a:ea typeface="Arial" pitchFamily="34" charset="-122"/>
                <a:cs typeface="Arial" pitchFamily="34" charset="-120"/>
              </a:rPr>
              <a:t>BARRIER — % WITH ED VISIT (N)</a:t>
            </a:r>
            <a:endParaRPr lang="en-US" sz="584" dirty="0"/>
          </a:p>
        </p:txBody>
      </p:sp>
      <p:sp>
        <p:nvSpPr>
          <p:cNvPr id="35" name="Text 25"/>
          <p:cNvSpPr/>
          <p:nvPr/>
        </p:nvSpPr>
        <p:spPr>
          <a:xfrm>
            <a:off x="428625" y="3507581"/>
            <a:ext cx="2486025" cy="292894"/>
          </a:xfrm>
          <a:prstGeom prst="rect">
            <a:avLst/>
          </a:prstGeom>
          <a:noFill/>
          <a:ln/>
        </p:spPr>
        <p:txBody>
          <a:bodyPr wrap="square" lIns="102108" tIns="85090" rIns="102108" bIns="85090" rtlCol="0" anchor="ctr">
            <a:spAutoFit/>
          </a:bodyPr>
          <a:lstStyle/>
          <a:p>
            <a:pPr marL="0" indent="0" algn="l">
              <a:lnSpc>
                <a:spcPts val="1200"/>
              </a:lnSpc>
              <a:buNone/>
            </a:pPr>
            <a:r>
              <a:rPr lang="en-US" sz="885" b="1" dirty="0">
                <a:solidFill>
                  <a:srgbClr val="0F172A"/>
                </a:solidFill>
                <a:latin typeface="Arial" pitchFamily="34" charset="0"/>
                <a:ea typeface="Arial" pitchFamily="34" charset="-122"/>
                <a:cs typeface="Arial" pitchFamily="34" charset="-120"/>
              </a:rPr>
              <a:t>Hypertension (I10)</a:t>
            </a:r>
            <a:endParaRPr lang="en-US" sz="885" dirty="0"/>
          </a:p>
        </p:txBody>
      </p:sp>
      <p:sp>
        <p:nvSpPr>
          <p:cNvPr id="36" name="Text 26"/>
          <p:cNvSpPr/>
          <p:nvPr/>
        </p:nvSpPr>
        <p:spPr>
          <a:xfrm>
            <a:off x="2914650" y="3507581"/>
            <a:ext cx="3037935" cy="292894"/>
          </a:xfrm>
          <a:prstGeom prst="rect">
            <a:avLst/>
          </a:prstGeom>
          <a:noFill/>
          <a:ln/>
        </p:spPr>
        <p:txBody>
          <a:bodyPr wrap="square" lIns="102108" tIns="85090" rIns="102108" bIns="85090" rtlCol="0" anchor="ctr">
            <a:spAutoFit/>
          </a:bodyPr>
          <a:lstStyle/>
          <a:p>
            <a:pPr marL="0" indent="0" algn="r">
              <a:lnSpc>
                <a:spcPts val="1200"/>
              </a:lnSpc>
              <a:buNone/>
            </a:pPr>
            <a:r>
              <a:rPr lang="en-US" sz="942" dirty="0">
                <a:solidFill>
                  <a:srgbClr val="334155"/>
                </a:solidFill>
                <a:latin typeface="Courier New" pitchFamily="34" charset="0"/>
                <a:ea typeface="Courier New" pitchFamily="34" charset="-122"/>
                <a:cs typeface="Courier New" pitchFamily="34" charset="-120"/>
              </a:rPr>
              <a:t>15% (18,890)</a:t>
            </a:r>
            <a:endParaRPr lang="en-US" sz="942" dirty="0"/>
          </a:p>
        </p:txBody>
      </p:sp>
      <p:sp>
        <p:nvSpPr>
          <p:cNvPr id="37" name="Text 27"/>
          <p:cNvSpPr/>
          <p:nvPr/>
        </p:nvSpPr>
        <p:spPr>
          <a:xfrm>
            <a:off x="5952585" y="3507581"/>
            <a:ext cx="2762790" cy="292894"/>
          </a:xfrm>
          <a:prstGeom prst="rect">
            <a:avLst/>
          </a:prstGeom>
          <a:noFill/>
          <a:ln/>
        </p:spPr>
        <p:txBody>
          <a:bodyPr wrap="square" lIns="102108" tIns="85090" rIns="102108" bIns="85090" rtlCol="0" anchor="ctr">
            <a:spAutoFit/>
          </a:bodyPr>
          <a:lstStyle/>
          <a:p>
            <a:pPr marL="0" indent="0" algn="r">
              <a:lnSpc>
                <a:spcPts val="1200"/>
              </a:lnSpc>
              <a:buNone/>
            </a:pPr>
            <a:r>
              <a:rPr lang="en-US" sz="885" b="1" dirty="0">
                <a:solidFill>
                  <a:srgbClr val="991B1B"/>
                </a:solidFill>
                <a:latin typeface="Courier New" pitchFamily="34" charset="0"/>
                <a:ea typeface="Courier New" pitchFamily="34" charset="-122"/>
                <a:cs typeface="Courier New" pitchFamily="34" charset="-120"/>
              </a:rPr>
              <a:t>33% (672)</a:t>
            </a:r>
            <a:endParaRPr lang="en-US" sz="885" dirty="0"/>
          </a:p>
        </p:txBody>
      </p:sp>
      <p:sp>
        <p:nvSpPr>
          <p:cNvPr id="38" name="Shape 28"/>
          <p:cNvSpPr/>
          <p:nvPr/>
        </p:nvSpPr>
        <p:spPr>
          <a:xfrm>
            <a:off x="428625" y="3800475"/>
            <a:ext cx="8286750" cy="296466"/>
          </a:xfrm>
          <a:prstGeom prst="rect">
            <a:avLst/>
          </a:prstGeom>
          <a:solidFill>
            <a:srgbClr val="F8FAFC"/>
          </a:solidFill>
          <a:ln/>
        </p:spPr>
        <p:txBody>
          <a:bodyPr/>
          <a:lstStyle/>
          <a:p>
            <a:endParaRPr lang="en-US"/>
          </a:p>
        </p:txBody>
      </p:sp>
      <p:sp>
        <p:nvSpPr>
          <p:cNvPr id="39" name="Text 29"/>
          <p:cNvSpPr/>
          <p:nvPr/>
        </p:nvSpPr>
        <p:spPr>
          <a:xfrm>
            <a:off x="428625" y="3800475"/>
            <a:ext cx="2486025" cy="296466"/>
          </a:xfrm>
          <a:prstGeom prst="rect">
            <a:avLst/>
          </a:prstGeom>
          <a:noFill/>
          <a:ln/>
        </p:spPr>
        <p:txBody>
          <a:bodyPr wrap="square" lIns="102108" tIns="85090" rIns="102108" bIns="85090" rtlCol="0" anchor="ctr">
            <a:spAutoFit/>
          </a:bodyPr>
          <a:lstStyle/>
          <a:p>
            <a:pPr marL="0" indent="0" algn="l">
              <a:lnSpc>
                <a:spcPts val="1200"/>
              </a:lnSpc>
              <a:buNone/>
            </a:pPr>
            <a:r>
              <a:rPr lang="en-US" sz="885" b="1" dirty="0">
                <a:solidFill>
                  <a:srgbClr val="0F172A"/>
                </a:solidFill>
                <a:latin typeface="Arial" pitchFamily="34" charset="0"/>
                <a:ea typeface="Arial" pitchFamily="34" charset="-122"/>
                <a:cs typeface="Arial" pitchFamily="34" charset="-120"/>
              </a:rPr>
              <a:t>Type 2 Diabetes (E11)</a:t>
            </a:r>
            <a:endParaRPr lang="en-US" sz="885" dirty="0"/>
          </a:p>
        </p:txBody>
      </p:sp>
      <p:sp>
        <p:nvSpPr>
          <p:cNvPr id="40" name="Text 30"/>
          <p:cNvSpPr/>
          <p:nvPr/>
        </p:nvSpPr>
        <p:spPr>
          <a:xfrm>
            <a:off x="2914650" y="3800475"/>
            <a:ext cx="3037935" cy="296466"/>
          </a:xfrm>
          <a:prstGeom prst="rect">
            <a:avLst/>
          </a:prstGeom>
          <a:noFill/>
          <a:ln/>
        </p:spPr>
        <p:txBody>
          <a:bodyPr wrap="square" lIns="102108" tIns="85090" rIns="102108" bIns="85090" rtlCol="0" anchor="ctr">
            <a:spAutoFit/>
          </a:bodyPr>
          <a:lstStyle/>
          <a:p>
            <a:pPr marL="0" indent="0" algn="r">
              <a:lnSpc>
                <a:spcPts val="1200"/>
              </a:lnSpc>
              <a:buNone/>
            </a:pPr>
            <a:r>
              <a:rPr lang="en-US" sz="942" dirty="0">
                <a:solidFill>
                  <a:srgbClr val="334155"/>
                </a:solidFill>
                <a:latin typeface="Courier New" pitchFamily="34" charset="0"/>
                <a:ea typeface="Courier New" pitchFamily="34" charset="-122"/>
                <a:cs typeface="Courier New" pitchFamily="34" charset="-120"/>
              </a:rPr>
              <a:t>17% (7,989)</a:t>
            </a:r>
            <a:endParaRPr lang="en-US" sz="942" dirty="0"/>
          </a:p>
        </p:txBody>
      </p:sp>
      <p:sp>
        <p:nvSpPr>
          <p:cNvPr id="41" name="Text 31"/>
          <p:cNvSpPr/>
          <p:nvPr/>
        </p:nvSpPr>
        <p:spPr>
          <a:xfrm>
            <a:off x="5952585" y="3800475"/>
            <a:ext cx="2762790" cy="296466"/>
          </a:xfrm>
          <a:prstGeom prst="rect">
            <a:avLst/>
          </a:prstGeom>
          <a:noFill/>
          <a:ln/>
        </p:spPr>
        <p:txBody>
          <a:bodyPr wrap="square" lIns="102108" tIns="85090" rIns="102108" bIns="85090" rtlCol="0" anchor="ctr">
            <a:spAutoFit/>
          </a:bodyPr>
          <a:lstStyle/>
          <a:p>
            <a:pPr marL="0" indent="0" algn="r">
              <a:lnSpc>
                <a:spcPts val="1200"/>
              </a:lnSpc>
              <a:buNone/>
            </a:pPr>
            <a:r>
              <a:rPr lang="en-US" sz="885" b="1" dirty="0">
                <a:solidFill>
                  <a:srgbClr val="991B1B"/>
                </a:solidFill>
                <a:latin typeface="Courier New" pitchFamily="34" charset="0"/>
                <a:ea typeface="Courier New" pitchFamily="34" charset="-122"/>
                <a:cs typeface="Courier New" pitchFamily="34" charset="-120"/>
              </a:rPr>
              <a:t>40% (541)</a:t>
            </a:r>
            <a:endParaRPr lang="en-US" sz="885" dirty="0"/>
          </a:p>
        </p:txBody>
      </p:sp>
      <p:sp>
        <p:nvSpPr>
          <p:cNvPr id="42" name="Text 32"/>
          <p:cNvSpPr/>
          <p:nvPr/>
        </p:nvSpPr>
        <p:spPr>
          <a:xfrm>
            <a:off x="428625" y="4096941"/>
            <a:ext cx="2486025" cy="296466"/>
          </a:xfrm>
          <a:prstGeom prst="rect">
            <a:avLst/>
          </a:prstGeom>
          <a:noFill/>
          <a:ln/>
        </p:spPr>
        <p:txBody>
          <a:bodyPr wrap="square" lIns="102108" tIns="85090" rIns="102108" bIns="85090" rtlCol="0" anchor="ctr">
            <a:spAutoFit/>
          </a:bodyPr>
          <a:lstStyle/>
          <a:p>
            <a:pPr marL="0" indent="0" algn="l">
              <a:lnSpc>
                <a:spcPts val="1200"/>
              </a:lnSpc>
              <a:buNone/>
            </a:pPr>
            <a:r>
              <a:rPr lang="en-US" sz="885" b="1" dirty="0">
                <a:solidFill>
                  <a:srgbClr val="0F172A"/>
                </a:solidFill>
                <a:latin typeface="Arial" pitchFamily="34" charset="0"/>
                <a:ea typeface="Arial" pitchFamily="34" charset="-122"/>
                <a:cs typeface="Arial" pitchFamily="34" charset="-120"/>
              </a:rPr>
              <a:t>CKD (N18)</a:t>
            </a:r>
            <a:endParaRPr lang="en-US" sz="885" dirty="0"/>
          </a:p>
        </p:txBody>
      </p:sp>
      <p:sp>
        <p:nvSpPr>
          <p:cNvPr id="43" name="Text 33"/>
          <p:cNvSpPr/>
          <p:nvPr/>
        </p:nvSpPr>
        <p:spPr>
          <a:xfrm>
            <a:off x="2914650" y="4096941"/>
            <a:ext cx="3037935" cy="296466"/>
          </a:xfrm>
          <a:prstGeom prst="rect">
            <a:avLst/>
          </a:prstGeom>
          <a:noFill/>
          <a:ln/>
        </p:spPr>
        <p:txBody>
          <a:bodyPr wrap="square" lIns="102108" tIns="85090" rIns="102108" bIns="85090" rtlCol="0" anchor="ctr">
            <a:spAutoFit/>
          </a:bodyPr>
          <a:lstStyle/>
          <a:p>
            <a:pPr marL="0" indent="0" algn="r">
              <a:lnSpc>
                <a:spcPts val="1200"/>
              </a:lnSpc>
              <a:buNone/>
            </a:pPr>
            <a:r>
              <a:rPr lang="en-US" sz="942" dirty="0">
                <a:solidFill>
                  <a:srgbClr val="334155"/>
                </a:solidFill>
                <a:latin typeface="Courier New" pitchFamily="34" charset="0"/>
                <a:ea typeface="Courier New" pitchFamily="34" charset="-122"/>
                <a:cs typeface="Courier New" pitchFamily="34" charset="-120"/>
              </a:rPr>
              <a:t>21% (4,118)</a:t>
            </a:r>
            <a:endParaRPr lang="en-US" sz="942" dirty="0"/>
          </a:p>
        </p:txBody>
      </p:sp>
      <p:sp>
        <p:nvSpPr>
          <p:cNvPr id="44" name="Text 34"/>
          <p:cNvSpPr/>
          <p:nvPr/>
        </p:nvSpPr>
        <p:spPr>
          <a:xfrm>
            <a:off x="5952585" y="4096941"/>
            <a:ext cx="2762790" cy="296466"/>
          </a:xfrm>
          <a:prstGeom prst="rect">
            <a:avLst/>
          </a:prstGeom>
          <a:noFill/>
          <a:ln/>
        </p:spPr>
        <p:txBody>
          <a:bodyPr wrap="square" lIns="102108" tIns="85090" rIns="102108" bIns="85090" rtlCol="0" anchor="ctr">
            <a:spAutoFit/>
          </a:bodyPr>
          <a:lstStyle/>
          <a:p>
            <a:pPr marL="0" indent="0" algn="r">
              <a:lnSpc>
                <a:spcPts val="1200"/>
              </a:lnSpc>
              <a:buNone/>
            </a:pPr>
            <a:r>
              <a:rPr lang="en-US" sz="885" b="1" dirty="0">
                <a:solidFill>
                  <a:srgbClr val="991B1B"/>
                </a:solidFill>
                <a:latin typeface="Courier New" pitchFamily="34" charset="0"/>
                <a:ea typeface="Courier New" pitchFamily="34" charset="-122"/>
                <a:cs typeface="Courier New" pitchFamily="34" charset="-120"/>
              </a:rPr>
              <a:t>37% (238)</a:t>
            </a:r>
            <a:endParaRPr lang="en-US" sz="885" dirty="0"/>
          </a:p>
        </p:txBody>
      </p:sp>
      <p:sp>
        <p:nvSpPr>
          <p:cNvPr id="45" name="Shape 35"/>
          <p:cNvSpPr/>
          <p:nvPr/>
        </p:nvSpPr>
        <p:spPr>
          <a:xfrm>
            <a:off x="428625" y="4393406"/>
            <a:ext cx="8286750" cy="296466"/>
          </a:xfrm>
          <a:prstGeom prst="rect">
            <a:avLst/>
          </a:prstGeom>
          <a:solidFill>
            <a:srgbClr val="F8FAFC"/>
          </a:solidFill>
          <a:ln/>
        </p:spPr>
        <p:txBody>
          <a:bodyPr/>
          <a:lstStyle/>
          <a:p>
            <a:endParaRPr lang="en-US"/>
          </a:p>
        </p:txBody>
      </p:sp>
      <p:sp>
        <p:nvSpPr>
          <p:cNvPr id="46" name="Text 36"/>
          <p:cNvSpPr/>
          <p:nvPr/>
        </p:nvSpPr>
        <p:spPr>
          <a:xfrm>
            <a:off x="428625" y="4393406"/>
            <a:ext cx="2486025" cy="296466"/>
          </a:xfrm>
          <a:prstGeom prst="rect">
            <a:avLst/>
          </a:prstGeom>
          <a:noFill/>
          <a:ln/>
        </p:spPr>
        <p:txBody>
          <a:bodyPr wrap="square" lIns="102108" tIns="85090" rIns="102108" bIns="85090" rtlCol="0" anchor="ctr">
            <a:spAutoFit/>
          </a:bodyPr>
          <a:lstStyle/>
          <a:p>
            <a:pPr marL="0" indent="0" algn="l">
              <a:lnSpc>
                <a:spcPts val="1200"/>
              </a:lnSpc>
              <a:buNone/>
            </a:pPr>
            <a:r>
              <a:rPr lang="en-US" sz="885" b="1" dirty="0">
                <a:solidFill>
                  <a:srgbClr val="0F172A"/>
                </a:solidFill>
                <a:latin typeface="Arial" pitchFamily="34" charset="0"/>
                <a:ea typeface="Arial" pitchFamily="34" charset="-122"/>
                <a:cs typeface="Arial" pitchFamily="34" charset="-120"/>
              </a:rPr>
              <a:t>AFib / Flutter (I48)</a:t>
            </a:r>
            <a:endParaRPr lang="en-US" sz="885" dirty="0"/>
          </a:p>
        </p:txBody>
      </p:sp>
      <p:sp>
        <p:nvSpPr>
          <p:cNvPr id="47" name="Text 37"/>
          <p:cNvSpPr/>
          <p:nvPr/>
        </p:nvSpPr>
        <p:spPr>
          <a:xfrm>
            <a:off x="2914650" y="4393406"/>
            <a:ext cx="3037935" cy="296466"/>
          </a:xfrm>
          <a:prstGeom prst="rect">
            <a:avLst/>
          </a:prstGeom>
          <a:noFill/>
          <a:ln/>
        </p:spPr>
        <p:txBody>
          <a:bodyPr wrap="square" lIns="102108" tIns="85090" rIns="102108" bIns="85090" rtlCol="0" anchor="ctr">
            <a:spAutoFit/>
          </a:bodyPr>
          <a:lstStyle/>
          <a:p>
            <a:pPr marL="0" indent="0" algn="r">
              <a:lnSpc>
                <a:spcPts val="1200"/>
              </a:lnSpc>
              <a:buNone/>
            </a:pPr>
            <a:r>
              <a:rPr lang="en-US" sz="942" dirty="0">
                <a:solidFill>
                  <a:srgbClr val="334155"/>
                </a:solidFill>
                <a:latin typeface="Courier New" pitchFamily="34" charset="0"/>
                <a:ea typeface="Courier New" pitchFamily="34" charset="-122"/>
                <a:cs typeface="Courier New" pitchFamily="34" charset="-120"/>
              </a:rPr>
              <a:t>24% (4,166)</a:t>
            </a:r>
            <a:endParaRPr lang="en-US" sz="942" dirty="0"/>
          </a:p>
        </p:txBody>
      </p:sp>
      <p:sp>
        <p:nvSpPr>
          <p:cNvPr id="48" name="Text 38"/>
          <p:cNvSpPr/>
          <p:nvPr/>
        </p:nvSpPr>
        <p:spPr>
          <a:xfrm>
            <a:off x="5952585" y="4393406"/>
            <a:ext cx="2762790" cy="296466"/>
          </a:xfrm>
          <a:prstGeom prst="rect">
            <a:avLst/>
          </a:prstGeom>
          <a:noFill/>
          <a:ln/>
        </p:spPr>
        <p:txBody>
          <a:bodyPr wrap="square" lIns="102108" tIns="85090" rIns="102108" bIns="85090" rtlCol="0" anchor="ctr">
            <a:spAutoFit/>
          </a:bodyPr>
          <a:lstStyle/>
          <a:p>
            <a:pPr marL="0" indent="0" algn="r">
              <a:lnSpc>
                <a:spcPts val="1200"/>
              </a:lnSpc>
              <a:buNone/>
            </a:pPr>
            <a:r>
              <a:rPr lang="en-US" sz="885" b="1" dirty="0">
                <a:solidFill>
                  <a:srgbClr val="991B1B"/>
                </a:solidFill>
                <a:latin typeface="Courier New" pitchFamily="34" charset="0"/>
                <a:ea typeface="Courier New" pitchFamily="34" charset="-122"/>
                <a:cs typeface="Courier New" pitchFamily="34" charset="-120"/>
              </a:rPr>
              <a:t>34% (183)</a:t>
            </a:r>
            <a:endParaRPr lang="en-US" sz="885" dirty="0"/>
          </a:p>
        </p:txBody>
      </p:sp>
      <p:pic>
        <p:nvPicPr>
          <p:cNvPr id="49" name="Image 7" descr="preencoded.png"/>
          <p:cNvPicPr>
            <a:picLocks noChangeAspect="1"/>
          </p:cNvPicPr>
          <p:nvPr/>
        </p:nvPicPr>
        <p:blipFill>
          <a:blip r:embed="rId9"/>
          <a:stretch>
            <a:fillRect/>
          </a:stretch>
        </p:blipFill>
        <p:spPr>
          <a:xfrm>
            <a:off x="428625" y="4755952"/>
            <a:ext cx="67866" cy="78581"/>
          </a:xfrm>
          <a:prstGeom prst="rect">
            <a:avLst/>
          </a:prstGeom>
        </p:spPr>
      </p:pic>
      <p:sp>
        <p:nvSpPr>
          <p:cNvPr id="50" name="Text 39"/>
          <p:cNvSpPr/>
          <p:nvPr/>
        </p:nvSpPr>
        <p:spPr>
          <a:xfrm>
            <a:off x="539353" y="4750594"/>
            <a:ext cx="3181787" cy="89297"/>
          </a:xfrm>
          <a:prstGeom prst="rect">
            <a:avLst/>
          </a:prstGeom>
          <a:noFill/>
          <a:ln/>
        </p:spPr>
        <p:txBody>
          <a:bodyPr wrap="none" lIns="0" tIns="0" rIns="0" bIns="0" rtlCol="0" anchor="t">
            <a:spAutoFit/>
          </a:bodyPr>
          <a:lstStyle/>
          <a:p>
            <a:pPr marL="0" indent="0" algn="l">
              <a:lnSpc>
                <a:spcPts val="700"/>
              </a:lnSpc>
              <a:buNone/>
            </a:pPr>
            <a:r>
              <a:rPr lang="en-US" sz="568" dirty="0">
                <a:solidFill>
                  <a:srgbClr val="94A3B8"/>
                </a:solidFill>
                <a:latin typeface="Arial" pitchFamily="34" charset="0"/>
                <a:ea typeface="Arial" pitchFamily="34" charset="-122"/>
                <a:cs typeface="Arial" pitchFamily="34" charset="-120"/>
              </a:rPr>
              <a:t>Index = first qualifying encounter; barrier n smaller by cell — interpret as descriptive shares.</a:t>
            </a:r>
            <a:endParaRPr lang="en-US" sz="568" dirty="0"/>
          </a:p>
        </p:txBody>
      </p:sp>
      <p:sp>
        <p:nvSpPr>
          <p:cNvPr id="51" name="Text 40"/>
          <p:cNvSpPr/>
          <p:nvPr/>
        </p:nvSpPr>
        <p:spPr>
          <a:xfrm>
            <a:off x="0" y="4977408"/>
            <a:ext cx="9144000" cy="166092"/>
          </a:xfrm>
          <a:prstGeom prst="rect">
            <a:avLst/>
          </a:prstGeom>
          <a:noFill/>
          <a:ln/>
        </p:spPr>
        <p:txBody>
          <a:bodyPr wrap="square" lIns="510286" tIns="0" rIns="0" bIns="102108" rtlCol="0" anchor="t">
            <a:spAutoFit/>
          </a:bodyPr>
          <a:lstStyle/>
          <a:p>
            <a:pPr marL="0" indent="0" algn="l">
              <a:lnSpc>
                <a:spcPts val="700"/>
              </a:lnSpc>
              <a:buNone/>
            </a:pPr>
            <a:r>
              <a:rPr lang="en-US" sz="516" kern="0" spc="2" dirty="0">
                <a:solidFill>
                  <a:srgbClr val="CBD5E1"/>
                </a:solidFill>
                <a:latin typeface="Arial" pitchFamily="34" charset="0"/>
                <a:ea typeface="Arial" pitchFamily="34" charset="-122"/>
                <a:cs typeface="Arial" pitchFamily="34" charset="-120"/>
              </a:rPr>
              <a:t>DATAFEST 2026 · TECHNICAL ANALYSIS · REGIONAL HEALTH SYSTEM</a:t>
            </a:r>
            <a:endParaRPr lang="en-US" sz="516" dirty="0"/>
          </a:p>
        </p:txBody>
      </p:sp>
      <p:sp>
        <p:nvSpPr>
          <p:cNvPr id="2" name="Shape 8">
            <a:extLst>
              <a:ext uri="{FF2B5EF4-FFF2-40B4-BE49-F238E27FC236}">
                <a16:creationId xmlns:a16="http://schemas.microsoft.com/office/drawing/2014/main" id="{DA3B95A9-DF09-94D1-E64F-BF217CEDA8C7}"/>
              </a:ext>
            </a:extLst>
          </p:cNvPr>
          <p:cNvSpPr/>
          <p:nvPr/>
        </p:nvSpPr>
        <p:spPr>
          <a:xfrm>
            <a:off x="439698" y="139137"/>
            <a:ext cx="56793" cy="435042"/>
          </a:xfrm>
          <a:prstGeom prst="rect">
            <a:avLst/>
          </a:prstGeom>
          <a:solidFill>
            <a:srgbClr val="C00000"/>
          </a:solidFill>
          <a:ln/>
        </p:spPr>
        <p:txBody>
          <a:bodyPr/>
          <a:lstStyle/>
          <a:p>
            <a:endParaRPr lang="en-US"/>
          </a:p>
        </p:txBody>
      </p:sp>
      <p:pic>
        <p:nvPicPr>
          <p:cNvPr id="52" name="Picture 51">
            <a:extLst>
              <a:ext uri="{FF2B5EF4-FFF2-40B4-BE49-F238E27FC236}">
                <a16:creationId xmlns:a16="http://schemas.microsoft.com/office/drawing/2014/main" id="{23079132-A431-E337-AFA6-FE77E3344317}"/>
              </a:ext>
            </a:extLst>
          </p:cNvPr>
          <p:cNvPicPr>
            <a:picLocks noChangeAspect="1"/>
          </p:cNvPicPr>
          <p:nvPr/>
        </p:nvPicPr>
        <p:blipFill>
          <a:blip r:embed="rId10"/>
          <a:stretch>
            <a:fillRect/>
          </a:stretch>
        </p:blipFill>
        <p:spPr>
          <a:xfrm>
            <a:off x="162665" y="640259"/>
            <a:ext cx="5339106" cy="225428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5"/>
          <a:stretch>
            <a:fillRect/>
          </a:stretch>
        </p:blipFill>
        <p:spPr>
          <a:xfrm>
            <a:off x="0" y="0"/>
            <a:ext cx="9144000" cy="5143500"/>
          </a:xfrm>
          <a:prstGeom prst="rect">
            <a:avLst/>
          </a:prstGeom>
        </p:spPr>
      </p:pic>
      <p:sp>
        <p:nvSpPr>
          <p:cNvPr id="4" name="Text 0"/>
          <p:cNvSpPr/>
          <p:nvPr/>
        </p:nvSpPr>
        <p:spPr>
          <a:xfrm>
            <a:off x="428625" y="285750"/>
            <a:ext cx="8715375" cy="262533"/>
          </a:xfrm>
          <a:prstGeom prst="rect">
            <a:avLst/>
          </a:prstGeom>
          <a:noFill/>
          <a:ln/>
        </p:spPr>
        <p:txBody>
          <a:bodyPr wrap="none" lIns="170053" tIns="0" rIns="0" bIns="0" rtlCol="0" anchor="t">
            <a:spAutoFit/>
          </a:bodyPr>
          <a:lstStyle/>
          <a:p>
            <a:pPr marL="0" indent="0" algn="l">
              <a:lnSpc>
                <a:spcPts val="2200"/>
              </a:lnSpc>
              <a:buNone/>
            </a:pPr>
            <a:r>
              <a:rPr lang="en-US" sz="1602" b="1" dirty="0">
                <a:solidFill>
                  <a:srgbClr val="0F172A"/>
                </a:solidFill>
                <a:latin typeface="Arial" pitchFamily="34" charset="0"/>
                <a:ea typeface="Arial" pitchFamily="34" charset="-122"/>
                <a:cs typeface="Arial" pitchFamily="34" charset="-120"/>
              </a:rPr>
              <a:t>From Signal to Action: Moving Towards Solutions</a:t>
            </a:r>
            <a:endParaRPr lang="en-US" sz="1602" dirty="0"/>
          </a:p>
        </p:txBody>
      </p:sp>
      <p:pic>
        <p:nvPicPr>
          <p:cNvPr id="12" name="Image 3" descr="preencoded.png"/>
          <p:cNvPicPr>
            <a:picLocks noChangeAspect="1"/>
          </p:cNvPicPr>
          <p:nvPr/>
        </p:nvPicPr>
        <p:blipFill>
          <a:blip r:embed="rId6"/>
          <a:stretch>
            <a:fillRect/>
          </a:stretch>
        </p:blipFill>
        <p:spPr>
          <a:xfrm>
            <a:off x="4767513" y="913118"/>
            <a:ext cx="128588" cy="128588"/>
          </a:xfrm>
          <a:prstGeom prst="rect">
            <a:avLst/>
          </a:prstGeom>
        </p:spPr>
      </p:pic>
      <p:sp>
        <p:nvSpPr>
          <p:cNvPr id="13" name="Text 6"/>
          <p:cNvSpPr/>
          <p:nvPr/>
        </p:nvSpPr>
        <p:spPr>
          <a:xfrm>
            <a:off x="4981826" y="911332"/>
            <a:ext cx="1638013" cy="135358"/>
          </a:xfrm>
          <a:prstGeom prst="rect">
            <a:avLst/>
          </a:prstGeom>
          <a:noFill/>
          <a:ln/>
        </p:spPr>
        <p:txBody>
          <a:bodyPr wrap="none" lIns="0" tIns="0" rIns="0" bIns="0" rtlCol="0" anchor="t">
            <a:spAutoFit/>
          </a:bodyPr>
          <a:lstStyle/>
          <a:p>
            <a:pPr marL="0" indent="0" algn="l">
              <a:lnSpc>
                <a:spcPts val="1100"/>
              </a:lnSpc>
              <a:buNone/>
            </a:pPr>
            <a:r>
              <a:rPr lang="en-US" sz="900" b="1" kern="0" spc="1" dirty="0">
                <a:solidFill>
                  <a:srgbClr val="0F172A"/>
                </a:solidFill>
                <a:latin typeface="Arial" pitchFamily="34" charset="0"/>
                <a:ea typeface="Arial" pitchFamily="34" charset="-122"/>
                <a:cs typeface="Arial" pitchFamily="34" charset="-120"/>
              </a:rPr>
              <a:t>STRATEGIC INTERVENTIONS</a:t>
            </a:r>
            <a:endParaRPr lang="en-US" sz="900" dirty="0"/>
          </a:p>
        </p:txBody>
      </p:sp>
      <p:pic>
        <p:nvPicPr>
          <p:cNvPr id="14" name="Image 4" descr="preencoded.png"/>
          <p:cNvPicPr>
            <a:picLocks noChangeAspect="1"/>
          </p:cNvPicPr>
          <p:nvPr/>
        </p:nvPicPr>
        <p:blipFill>
          <a:blip r:embed="rId7"/>
          <a:stretch>
            <a:fillRect/>
          </a:stretch>
        </p:blipFill>
        <p:spPr>
          <a:xfrm>
            <a:off x="4767513" y="1214941"/>
            <a:ext cx="114300" cy="85725"/>
          </a:xfrm>
          <a:prstGeom prst="rect">
            <a:avLst/>
          </a:prstGeom>
        </p:spPr>
      </p:pic>
      <p:sp>
        <p:nvSpPr>
          <p:cNvPr id="15" name="Text 7"/>
          <p:cNvSpPr/>
          <p:nvPr/>
        </p:nvSpPr>
        <p:spPr>
          <a:xfrm>
            <a:off x="4967538" y="1186366"/>
            <a:ext cx="3481722" cy="135358"/>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334155"/>
                </a:solidFill>
                <a:latin typeface="Arial" pitchFamily="34" charset="0"/>
                <a:ea typeface="Arial" pitchFamily="34" charset="-122"/>
                <a:cs typeface="Arial" pitchFamily="34" charset="-120"/>
              </a:rPr>
              <a:t>Targeted Transit:</a:t>
            </a:r>
            <a:r>
              <a:rPr lang="en-US" sz="900" dirty="0">
                <a:solidFill>
                  <a:srgbClr val="334155"/>
                </a:solidFill>
                <a:latin typeface="Arial" pitchFamily="34" charset="0"/>
                <a:ea typeface="Arial" pitchFamily="34" charset="-122"/>
                <a:cs typeface="Arial" pitchFamily="34" charset="-120"/>
              </a:rPr>
              <a:t> Rides and shuttles for high-risk acute-care users.</a:t>
            </a:r>
            <a:endParaRPr lang="en-US" sz="900" dirty="0"/>
          </a:p>
        </p:txBody>
      </p:sp>
      <p:pic>
        <p:nvPicPr>
          <p:cNvPr id="16" name="Image 5" descr="preencoded.png"/>
          <p:cNvPicPr>
            <a:picLocks noChangeAspect="1"/>
          </p:cNvPicPr>
          <p:nvPr/>
        </p:nvPicPr>
        <p:blipFill>
          <a:blip r:embed="rId8"/>
          <a:stretch>
            <a:fillRect/>
          </a:stretch>
        </p:blipFill>
        <p:spPr>
          <a:xfrm>
            <a:off x="4767513" y="1426379"/>
            <a:ext cx="114300" cy="85725"/>
          </a:xfrm>
          <a:prstGeom prst="rect">
            <a:avLst/>
          </a:prstGeom>
        </p:spPr>
      </p:pic>
      <p:sp>
        <p:nvSpPr>
          <p:cNvPr id="17" name="Text 8"/>
          <p:cNvSpPr/>
          <p:nvPr/>
        </p:nvSpPr>
        <p:spPr>
          <a:xfrm>
            <a:off x="4967538" y="1397804"/>
            <a:ext cx="3385542" cy="135358"/>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334155"/>
                </a:solidFill>
                <a:latin typeface="Arial" pitchFamily="34" charset="0"/>
                <a:ea typeface="Arial" pitchFamily="34" charset="-122"/>
                <a:cs typeface="Arial" pitchFamily="34" charset="-120"/>
              </a:rPr>
              <a:t>Telehealth Bridge:</a:t>
            </a:r>
            <a:r>
              <a:rPr lang="en-US" sz="900" dirty="0">
                <a:solidFill>
                  <a:srgbClr val="334155"/>
                </a:solidFill>
                <a:latin typeface="Arial" pitchFamily="34" charset="0"/>
                <a:ea typeface="Arial" pitchFamily="34" charset="-122"/>
                <a:cs typeface="Arial" pitchFamily="34" charset="-120"/>
              </a:rPr>
              <a:t> Virtual follow-ups to bypass physical distance.</a:t>
            </a:r>
            <a:endParaRPr lang="en-US" sz="900" dirty="0"/>
          </a:p>
        </p:txBody>
      </p:sp>
      <p:pic>
        <p:nvPicPr>
          <p:cNvPr id="18" name="Image 6" descr="preencoded.png"/>
          <p:cNvPicPr>
            <a:picLocks noChangeAspect="1"/>
          </p:cNvPicPr>
          <p:nvPr/>
        </p:nvPicPr>
        <p:blipFill>
          <a:blip r:embed="rId9"/>
          <a:stretch>
            <a:fillRect/>
          </a:stretch>
        </p:blipFill>
        <p:spPr>
          <a:xfrm>
            <a:off x="4767513" y="1637818"/>
            <a:ext cx="114300" cy="85725"/>
          </a:xfrm>
          <a:prstGeom prst="rect">
            <a:avLst/>
          </a:prstGeom>
        </p:spPr>
      </p:pic>
      <p:sp>
        <p:nvSpPr>
          <p:cNvPr id="19" name="Text 9"/>
          <p:cNvSpPr/>
          <p:nvPr/>
        </p:nvSpPr>
        <p:spPr>
          <a:xfrm>
            <a:off x="4967538" y="1609243"/>
            <a:ext cx="3539430" cy="135358"/>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334155"/>
                </a:solidFill>
                <a:latin typeface="Arial" pitchFamily="34" charset="0"/>
                <a:ea typeface="Arial" pitchFamily="34" charset="-122"/>
                <a:cs typeface="Arial" pitchFamily="34" charset="-120"/>
              </a:rPr>
              <a:t>Pharmacy Delivery:</a:t>
            </a:r>
            <a:r>
              <a:rPr lang="en-US" sz="900" dirty="0">
                <a:solidFill>
                  <a:srgbClr val="334155"/>
                </a:solidFill>
                <a:latin typeface="Arial" pitchFamily="34" charset="0"/>
                <a:ea typeface="Arial" pitchFamily="34" charset="-122"/>
                <a:cs typeface="Arial" pitchFamily="34" charset="-120"/>
              </a:rPr>
              <a:t> Home access for chronic disease management.</a:t>
            </a:r>
            <a:endParaRPr lang="en-US" sz="900" dirty="0"/>
          </a:p>
        </p:txBody>
      </p:sp>
      <p:pic>
        <p:nvPicPr>
          <p:cNvPr id="22" name="Image 8" descr="preencoded.png"/>
          <p:cNvPicPr>
            <a:picLocks noChangeAspect="1"/>
          </p:cNvPicPr>
          <p:nvPr/>
        </p:nvPicPr>
        <p:blipFill>
          <a:blip r:embed="rId10"/>
          <a:stretch>
            <a:fillRect/>
          </a:stretch>
        </p:blipFill>
        <p:spPr>
          <a:xfrm>
            <a:off x="4767513" y="2093938"/>
            <a:ext cx="128588" cy="128588"/>
          </a:xfrm>
          <a:prstGeom prst="rect">
            <a:avLst/>
          </a:prstGeom>
        </p:spPr>
      </p:pic>
      <p:sp>
        <p:nvSpPr>
          <p:cNvPr id="23" name="Text 11"/>
          <p:cNvSpPr/>
          <p:nvPr/>
        </p:nvSpPr>
        <p:spPr>
          <a:xfrm>
            <a:off x="4981826" y="2092152"/>
            <a:ext cx="1124154" cy="135358"/>
          </a:xfrm>
          <a:prstGeom prst="rect">
            <a:avLst/>
          </a:prstGeom>
          <a:noFill/>
          <a:ln/>
        </p:spPr>
        <p:txBody>
          <a:bodyPr wrap="none" lIns="0" tIns="0" rIns="0" bIns="0" rtlCol="0" anchor="t">
            <a:spAutoFit/>
          </a:bodyPr>
          <a:lstStyle/>
          <a:p>
            <a:pPr marL="0" indent="0" algn="l">
              <a:lnSpc>
                <a:spcPts val="1100"/>
              </a:lnSpc>
              <a:buNone/>
            </a:pPr>
            <a:r>
              <a:rPr lang="en-US" sz="900" b="1" kern="0" spc="1" dirty="0">
                <a:solidFill>
                  <a:srgbClr val="0F172A"/>
                </a:solidFill>
                <a:latin typeface="Arial" pitchFamily="34" charset="0"/>
                <a:ea typeface="Arial" pitchFamily="34" charset="-122"/>
                <a:cs typeface="Arial" pitchFamily="34" charset="-120"/>
              </a:rPr>
              <a:t>CRITICAL CAVEATS</a:t>
            </a:r>
            <a:endParaRPr lang="en-US" sz="900" dirty="0"/>
          </a:p>
        </p:txBody>
      </p:sp>
      <p:pic>
        <p:nvPicPr>
          <p:cNvPr id="24" name="Image 9" descr="preencoded.png"/>
          <p:cNvPicPr>
            <a:picLocks noChangeAspect="1"/>
          </p:cNvPicPr>
          <p:nvPr/>
        </p:nvPicPr>
        <p:blipFill>
          <a:blip r:embed="rId11"/>
          <a:stretch>
            <a:fillRect/>
          </a:stretch>
        </p:blipFill>
        <p:spPr>
          <a:xfrm>
            <a:off x="4767513" y="2395761"/>
            <a:ext cx="114300" cy="85725"/>
          </a:xfrm>
          <a:prstGeom prst="rect">
            <a:avLst/>
          </a:prstGeom>
        </p:spPr>
      </p:pic>
      <p:sp>
        <p:nvSpPr>
          <p:cNvPr id="25" name="Text 12"/>
          <p:cNvSpPr/>
          <p:nvPr/>
        </p:nvSpPr>
        <p:spPr>
          <a:xfrm>
            <a:off x="4967538" y="2367186"/>
            <a:ext cx="3100208" cy="135358"/>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334155"/>
                </a:solidFill>
                <a:latin typeface="Arial" pitchFamily="34" charset="0"/>
                <a:ea typeface="Arial" pitchFamily="34" charset="-122"/>
                <a:cs typeface="Arial" pitchFamily="34" charset="-120"/>
              </a:rPr>
              <a:t>Selection Bias:</a:t>
            </a:r>
            <a:r>
              <a:rPr lang="en-US" sz="900" dirty="0">
                <a:solidFill>
                  <a:srgbClr val="334155"/>
                </a:solidFill>
                <a:latin typeface="Arial" pitchFamily="34" charset="0"/>
                <a:ea typeface="Arial" pitchFamily="34" charset="-122"/>
                <a:cs typeface="Arial" pitchFamily="34" charset="-120"/>
              </a:rPr>
              <a:t> Non-random screening (~6% of population).</a:t>
            </a:r>
            <a:endParaRPr lang="en-US" sz="900" dirty="0"/>
          </a:p>
        </p:txBody>
      </p:sp>
      <p:pic>
        <p:nvPicPr>
          <p:cNvPr id="26" name="Image 10" descr="preencoded.png"/>
          <p:cNvPicPr>
            <a:picLocks noChangeAspect="1"/>
          </p:cNvPicPr>
          <p:nvPr/>
        </p:nvPicPr>
        <p:blipFill>
          <a:blip r:embed="rId12"/>
          <a:stretch>
            <a:fillRect/>
          </a:stretch>
        </p:blipFill>
        <p:spPr>
          <a:xfrm>
            <a:off x="4767513" y="2607199"/>
            <a:ext cx="114300" cy="85725"/>
          </a:xfrm>
          <a:prstGeom prst="rect">
            <a:avLst/>
          </a:prstGeom>
        </p:spPr>
      </p:pic>
      <p:sp>
        <p:nvSpPr>
          <p:cNvPr id="27" name="Text 13"/>
          <p:cNvSpPr/>
          <p:nvPr/>
        </p:nvSpPr>
        <p:spPr>
          <a:xfrm>
            <a:off x="4967538" y="2578624"/>
            <a:ext cx="3369512" cy="135358"/>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334155"/>
                </a:solidFill>
                <a:latin typeface="Arial" pitchFamily="34" charset="0"/>
                <a:ea typeface="Arial" pitchFamily="34" charset="-122"/>
                <a:cs typeface="Arial" pitchFamily="34" charset="-120"/>
              </a:rPr>
              <a:t>Data Integrity:</a:t>
            </a:r>
            <a:r>
              <a:rPr lang="en-US" sz="900" dirty="0">
                <a:solidFill>
                  <a:srgbClr val="334155"/>
                </a:solidFill>
                <a:latin typeface="Arial" pitchFamily="34" charset="0"/>
                <a:ea typeface="Arial" pitchFamily="34" charset="-122"/>
                <a:cs typeface="Arial" pitchFamily="34" charset="-120"/>
              </a:rPr>
              <a:t> ~20% of encounters lack matched diagnosis keys.</a:t>
            </a:r>
            <a:endParaRPr lang="en-US" sz="900" dirty="0"/>
          </a:p>
        </p:txBody>
      </p:sp>
      <p:pic>
        <p:nvPicPr>
          <p:cNvPr id="28" name="Image 11" descr="preencoded.png"/>
          <p:cNvPicPr>
            <a:picLocks noChangeAspect="1"/>
          </p:cNvPicPr>
          <p:nvPr/>
        </p:nvPicPr>
        <p:blipFill>
          <a:blip r:embed="rId13"/>
          <a:stretch>
            <a:fillRect/>
          </a:stretch>
        </p:blipFill>
        <p:spPr>
          <a:xfrm>
            <a:off x="4767513" y="2818638"/>
            <a:ext cx="114300" cy="85725"/>
          </a:xfrm>
          <a:prstGeom prst="rect">
            <a:avLst/>
          </a:prstGeom>
        </p:spPr>
      </p:pic>
      <p:sp>
        <p:nvSpPr>
          <p:cNvPr id="29" name="Text 14"/>
          <p:cNvSpPr/>
          <p:nvPr/>
        </p:nvSpPr>
        <p:spPr>
          <a:xfrm>
            <a:off x="4967538" y="2790063"/>
            <a:ext cx="3161122" cy="135358"/>
          </a:xfrm>
          <a:prstGeom prst="rect">
            <a:avLst/>
          </a:prstGeom>
          <a:noFill/>
          <a:ln/>
        </p:spPr>
        <p:txBody>
          <a:bodyPr wrap="none" lIns="0" tIns="0" rIns="0" bIns="0" rtlCol="0" anchor="t">
            <a:spAutoFit/>
          </a:bodyPr>
          <a:lstStyle/>
          <a:p>
            <a:pPr marL="0" indent="0" algn="l">
              <a:lnSpc>
                <a:spcPts val="1100"/>
              </a:lnSpc>
              <a:buNone/>
            </a:pPr>
            <a:r>
              <a:rPr lang="en-US" sz="900" b="1" dirty="0">
                <a:solidFill>
                  <a:srgbClr val="334155"/>
                </a:solidFill>
                <a:latin typeface="Arial" pitchFamily="34" charset="0"/>
                <a:ea typeface="Arial" pitchFamily="34" charset="-122"/>
                <a:cs typeface="Arial" pitchFamily="34" charset="-120"/>
              </a:rPr>
              <a:t>Geographic Gaps:</a:t>
            </a:r>
            <a:r>
              <a:rPr lang="en-US" sz="900" dirty="0">
                <a:solidFill>
                  <a:srgbClr val="334155"/>
                </a:solidFill>
                <a:latin typeface="Arial" pitchFamily="34" charset="0"/>
                <a:ea typeface="Arial" pitchFamily="34" charset="-122"/>
                <a:cs typeface="Arial" pitchFamily="34" charset="-120"/>
              </a:rPr>
              <a:t> Missing FIPS data limits spatial modeling.</a:t>
            </a:r>
            <a:endParaRPr lang="en-US" sz="900" dirty="0"/>
          </a:p>
        </p:txBody>
      </p:sp>
      <p:sp>
        <p:nvSpPr>
          <p:cNvPr id="32" name="Shape 16"/>
          <p:cNvSpPr/>
          <p:nvPr/>
        </p:nvSpPr>
        <p:spPr>
          <a:xfrm>
            <a:off x="428625" y="3966567"/>
            <a:ext cx="8286750" cy="810816"/>
          </a:xfrm>
          <a:prstGeom prst="rect">
            <a:avLst/>
          </a:prstGeom>
          <a:solidFill>
            <a:srgbClr val="0F172A"/>
          </a:solidFill>
          <a:ln/>
        </p:spPr>
        <p:txBody>
          <a:bodyPr/>
          <a:lstStyle/>
          <a:p>
            <a:endParaRPr lang="en-US"/>
          </a:p>
        </p:txBody>
      </p:sp>
      <p:sp>
        <p:nvSpPr>
          <p:cNvPr id="33" name="Shape 17"/>
          <p:cNvSpPr/>
          <p:nvPr/>
        </p:nvSpPr>
        <p:spPr>
          <a:xfrm>
            <a:off x="428625" y="3966567"/>
            <a:ext cx="57150" cy="810816"/>
          </a:xfrm>
          <a:prstGeom prst="rect">
            <a:avLst/>
          </a:prstGeom>
          <a:solidFill>
            <a:srgbClr val="991B1B"/>
          </a:solidFill>
          <a:ln/>
        </p:spPr>
        <p:txBody>
          <a:bodyPr/>
          <a:lstStyle/>
          <a:p>
            <a:endParaRPr lang="en-US"/>
          </a:p>
        </p:txBody>
      </p:sp>
      <p:pic>
        <p:nvPicPr>
          <p:cNvPr id="34" name="Image 13" descr="preencoded.png"/>
          <p:cNvPicPr>
            <a:picLocks noChangeAspect="1"/>
          </p:cNvPicPr>
          <p:nvPr/>
        </p:nvPicPr>
        <p:blipFill>
          <a:blip r:embed="rId14"/>
          <a:stretch>
            <a:fillRect/>
          </a:stretch>
        </p:blipFill>
        <p:spPr>
          <a:xfrm>
            <a:off x="542144" y="4284610"/>
            <a:ext cx="228600" cy="228600"/>
          </a:xfrm>
          <a:prstGeom prst="rect">
            <a:avLst/>
          </a:prstGeom>
        </p:spPr>
      </p:pic>
      <p:pic>
        <p:nvPicPr>
          <p:cNvPr id="35" name="Image 14" descr="preencoded.png"/>
          <p:cNvPicPr>
            <a:picLocks noChangeAspect="1"/>
          </p:cNvPicPr>
          <p:nvPr/>
        </p:nvPicPr>
        <p:blipFill>
          <a:blip r:embed="rId15"/>
          <a:stretch>
            <a:fillRect/>
          </a:stretch>
        </p:blipFill>
        <p:spPr>
          <a:xfrm>
            <a:off x="852897" y="4364369"/>
            <a:ext cx="112514" cy="128588"/>
          </a:xfrm>
          <a:prstGeom prst="rect">
            <a:avLst/>
          </a:prstGeom>
        </p:spPr>
      </p:pic>
      <p:pic>
        <p:nvPicPr>
          <p:cNvPr id="36" name="Image 15" descr="preencoded.png"/>
          <p:cNvPicPr>
            <a:picLocks noChangeAspect="1"/>
          </p:cNvPicPr>
          <p:nvPr/>
        </p:nvPicPr>
        <p:blipFill>
          <a:blip r:embed="rId16"/>
          <a:stretch>
            <a:fillRect/>
          </a:stretch>
        </p:blipFill>
        <p:spPr>
          <a:xfrm>
            <a:off x="1083283" y="4264357"/>
            <a:ext cx="285750" cy="228600"/>
          </a:xfrm>
          <a:prstGeom prst="rect">
            <a:avLst/>
          </a:prstGeom>
        </p:spPr>
      </p:pic>
      <p:sp>
        <p:nvSpPr>
          <p:cNvPr id="37" name="Text 18"/>
          <p:cNvSpPr/>
          <p:nvPr/>
        </p:nvSpPr>
        <p:spPr>
          <a:xfrm>
            <a:off x="1551979" y="4213172"/>
            <a:ext cx="7049877" cy="371475"/>
          </a:xfrm>
          <a:prstGeom prst="rect">
            <a:avLst/>
          </a:prstGeom>
          <a:noFill/>
          <a:ln/>
        </p:spPr>
        <p:txBody>
          <a:bodyPr wrap="square" lIns="0" tIns="0" rIns="0" bIns="0" rtlCol="0" anchor="t">
            <a:spAutoFit/>
          </a:bodyPr>
          <a:lstStyle/>
          <a:p>
            <a:pPr marL="0" indent="0" algn="l">
              <a:lnSpc>
                <a:spcPts val="1500"/>
              </a:lnSpc>
              <a:buNone/>
            </a:pPr>
            <a:r>
              <a:rPr lang="en-US" sz="987" b="1" dirty="0">
                <a:solidFill>
                  <a:srgbClr val="FFFFFF"/>
                </a:solidFill>
                <a:latin typeface="Arial" pitchFamily="34" charset="0"/>
                <a:ea typeface="Arial" pitchFamily="34" charset="-122"/>
                <a:cs typeface="Arial" pitchFamily="34" charset="-120"/>
              </a:rPr>
              <a:t>One transportation screen identifies patients with ~3x adjusted odds of acute care. Ask the question more, and resource the response.</a:t>
            </a:r>
            <a:endParaRPr lang="en-US" sz="987" dirty="0"/>
          </a:p>
        </p:txBody>
      </p:sp>
      <p:sp>
        <p:nvSpPr>
          <p:cNvPr id="2" name="Shape 8">
            <a:extLst>
              <a:ext uri="{FF2B5EF4-FFF2-40B4-BE49-F238E27FC236}">
                <a16:creationId xmlns:a16="http://schemas.microsoft.com/office/drawing/2014/main" id="{6D684925-759E-13B8-95F1-CBB3722D978D}"/>
              </a:ext>
            </a:extLst>
          </p:cNvPr>
          <p:cNvSpPr/>
          <p:nvPr/>
        </p:nvSpPr>
        <p:spPr>
          <a:xfrm>
            <a:off x="435544" y="162273"/>
            <a:ext cx="45719" cy="384224"/>
          </a:xfrm>
          <a:prstGeom prst="rect">
            <a:avLst/>
          </a:prstGeom>
          <a:solidFill>
            <a:srgbClr val="C00000"/>
          </a:solidFill>
          <a:ln/>
        </p:spPr>
        <p:txBody>
          <a:bodyPr/>
          <a:lstStyle/>
          <a:p>
            <a:endParaRPr lang="en-US"/>
          </a:p>
        </p:txBody>
      </p:sp>
      <p:pic>
        <p:nvPicPr>
          <p:cNvPr id="20" name="slide4_ed_per_py_by_quarter_line">
            <a:hlinkClick r:id="" action="ppaction://media"/>
            <a:extLst>
              <a:ext uri="{FF2B5EF4-FFF2-40B4-BE49-F238E27FC236}">
                <a16:creationId xmlns:a16="http://schemas.microsoft.com/office/drawing/2014/main" id="{281CFFFC-155F-F08E-792A-4915CD031E3E}"/>
              </a:ext>
            </a:extLst>
          </p:cNvPr>
          <p:cNvPicPr>
            <a:picLocks noChangeAspect="1"/>
          </p:cNvPicPr>
          <p:nvPr>
            <a:videoFile r:link="rId2"/>
            <p:extLst>
              <p:ext uri="{DAA4B4D4-6D71-4841-9C94-3DE7FCFB9230}">
                <p14:media xmlns:p14="http://schemas.microsoft.com/office/powerpoint/2010/main" r:embed="rId1"/>
              </p:ext>
            </p:extLst>
          </p:nvPr>
        </p:nvPicPr>
        <p:blipFill>
          <a:blip r:embed="rId17"/>
          <a:stretch>
            <a:fillRect/>
          </a:stretch>
        </p:blipFill>
        <p:spPr>
          <a:xfrm>
            <a:off x="131945" y="858890"/>
            <a:ext cx="4549843" cy="24818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867"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TotalTime>
  <Words>1093</Words>
  <Application>Microsoft Macintosh PowerPoint</Application>
  <PresentationFormat>On-screen Show (16:9)</PresentationFormat>
  <Paragraphs>73</Paragraphs>
  <Slides>4</Slides>
  <Notes>4</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Courier New</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Yinka Vaughan</cp:lastModifiedBy>
  <cp:revision>13</cp:revision>
  <dcterms:created xsi:type="dcterms:W3CDTF">2026-04-19T14:10:15Z</dcterms:created>
  <dcterms:modified xsi:type="dcterms:W3CDTF">2026-04-19T17:06:47Z</dcterms:modified>
</cp:coreProperties>
</file>